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Inter SemiBold"/>
      <p:regular r:id="rId59"/>
      <p:bold r:id="rId60"/>
      <p:italic r:id="rId61"/>
      <p:boldItalic r:id="rId62"/>
    </p:embeddedFont>
    <p:embeddedFont>
      <p:font typeface="Inter"/>
      <p:regular r:id="rId63"/>
      <p:bold r:id="rId64"/>
      <p:italic r:id="rId65"/>
      <p:boldItalic r:id="rId66"/>
    </p:embeddedFont>
    <p:embeddedFont>
      <p:font typeface="Inter Medium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31DD4A-00E7-49F3-BD3E-B96F6FB43EC1}">
  <a:tblStyle styleId="{9231DD4A-00E7-49F3-BD3E-B96F6FB43E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InterMedium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SemiBold-boldItalic.fntdata"/><Relationship Id="rId61" Type="http://schemas.openxmlformats.org/officeDocument/2006/relationships/font" Target="fonts/InterSemiBold-italic.fntdata"/><Relationship Id="rId20" Type="http://schemas.openxmlformats.org/officeDocument/2006/relationships/slide" Target="slides/slide14.xml"/><Relationship Id="rId64" Type="http://schemas.openxmlformats.org/officeDocument/2006/relationships/font" Target="fonts/Inter-bold.fntdata"/><Relationship Id="rId63" Type="http://schemas.openxmlformats.org/officeDocument/2006/relationships/font" Target="fonts/Inter-regular.fntdata"/><Relationship Id="rId22" Type="http://schemas.openxmlformats.org/officeDocument/2006/relationships/slide" Target="slides/slide16.xml"/><Relationship Id="rId66" Type="http://schemas.openxmlformats.org/officeDocument/2006/relationships/font" Target="fonts/Inter-boldItalic.fntdata"/><Relationship Id="rId21" Type="http://schemas.openxmlformats.org/officeDocument/2006/relationships/slide" Target="slides/slide15.xml"/><Relationship Id="rId65" Type="http://schemas.openxmlformats.org/officeDocument/2006/relationships/font" Target="fonts/Inter-italic.fntdata"/><Relationship Id="rId24" Type="http://schemas.openxmlformats.org/officeDocument/2006/relationships/slide" Target="slides/slide18.xml"/><Relationship Id="rId68" Type="http://schemas.openxmlformats.org/officeDocument/2006/relationships/font" Target="fonts/InterMedium-bold.fntdata"/><Relationship Id="rId23" Type="http://schemas.openxmlformats.org/officeDocument/2006/relationships/slide" Target="slides/slide17.xml"/><Relationship Id="rId67" Type="http://schemas.openxmlformats.org/officeDocument/2006/relationships/font" Target="fonts/InterMedium-regular.fntdata"/><Relationship Id="rId60" Type="http://schemas.openxmlformats.org/officeDocument/2006/relationships/font" Target="fonts/InterSemiBold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InterMedium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InterSemiBold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d1f6e9c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5d1f6e9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5d1f6e9c1_11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5d1f6e9c1_11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5d1f6e9c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5d1f6e9c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d1f6e9c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d1f6e9c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8863b5e6f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8863b5e6f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5d1f6e9c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5d1f6e9c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d1f6e9c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5d1f6e9c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5d1f6e9c1_1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5d1f6e9c1_1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5d1f6e9c1_11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5d1f6e9c1_11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8863b5e6f_0_14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5d1f6e9c1_9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5d1f6e9c1_9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8863b5e6f_0_17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5d1f6e9c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5d1f6e9c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8863b5e6f_0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8863b5e6f_0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5d1f6e9c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5d1f6e9c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5d1f6e9c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5d1f6e9c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5d1f6e9c1_104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5d1f6e9c1_104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5d1f6e9c1_104_1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5d1f6e9c1_104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8863b5e6f_0_2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8863b5e6f_0_2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8863b5e6f_0_2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8863b5e6f_0_2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8863b5e6f_0_2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8863b5e6f_0_2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8863b5e6f_0_3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d8863b5e6f_0_3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8863b5e6f_0_3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d8863b5e6f_0_3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8863b5e6f_0_3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d8863b5e6f_0_3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5d1f6e9c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5d1f6e9c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8863b5e6f_0_3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d8863b5e6f_0_3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8863b5e6f_0_3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d8863b5e6f_0_3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66bc7770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d66bc7770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8863b5e6f_0_71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8863b5e6f_0_4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d8863b5e6f_0_4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66bc7770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66bc7770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66bc7770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d66bc7770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66bc7770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66bc7770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66bc7770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d66bc7770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66bc7770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d66bc7770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66bc7770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d66bc7770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d8863b5e6f_0_4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d8863b5e6f_0_4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8863b5e6f_0_4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8863b5e6f_0_4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699b85b0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d699b85b0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699b85b0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d699b85b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699b85b0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d699b85b0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d699b85b0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d699b85b0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d8863b5e6f_0_6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d8863b5e6f_0_6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d8863b5e6f_0_7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d8863b5e6f_0_7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d699b85b0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d699b85b0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d8863b5e6f_0_5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d8863b5e6f_0_5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d8863b5e6f_0_66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d699b85b0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d699b85b0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d8863b5e6f_0_60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8863b5e6f_0_64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d8863b5e6f_0_5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d8863b5e6f_0_5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30_0)">
  <p:cSld name="Заголовок и текст (g3d5d1f6e9c1_3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37_0)">
  <p:cSld name="Заголовок и текст (g3d5d1f6e9c1_37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44_0)">
  <p:cSld name="Заголовок и текст (g3d5d1f6e9c1_44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51_0)">
  <p:cSld name="Заголовок и текст (g3d5d1f6e9c1_51_0)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58_0)">
  <p:cSld name="Заголовок и текст (g3d5d1f6e9c1_58_0)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78_0)">
  <p:cSld name="Заголовок и текст (g3d5d1f6e9c1_78_0)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03_0)">
  <p:cSld name="Заголовок и текст (g3d5d1f6e9c1_103_0)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11_0)">
  <p:cSld name="Заголовок и текст (g3d5d1f6e9c1_111_0)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25_0)">
  <p:cSld name="Заголовок и текст (g3d5d1f6e9c1_125_0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34_0)">
  <p:cSld name="Заголовок и текст (g3d5d1f6e9c1_134_0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25_0) (g3d5d1f6e9c1_141_0)">
  <p:cSld name="Заголовок и текст (g3d5d1f6e9c1_125_0) (g3d5d1f6e9c1_141_0)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48_0)">
  <p:cSld name="Заголовок и текст (g3d5d1f6e9c1_148_0)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57_0)">
  <p:cSld name="Заголовок и текст (g3d5d1f6e9c1_157_0)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(g3d5d1f6e9c1_164_0)">
  <p:cSld name="Заголовок и текст (g3d5d1f6e9c1_164_0)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8863b5e6f_64_0)">
  <p:cSld name="Generated (g3d8863b5e6f_64_0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16.png"/><Relationship Id="rId5" Type="http://schemas.openxmlformats.org/officeDocument/2006/relationships/image" Target="../media/image4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15.png"/><Relationship Id="rId6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4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jpg"/><Relationship Id="rId4" Type="http://schemas.openxmlformats.org/officeDocument/2006/relationships/image" Target="../media/image62.jpg"/><Relationship Id="rId5" Type="http://schemas.openxmlformats.org/officeDocument/2006/relationships/image" Target="../media/image61.jpg"/><Relationship Id="rId6" Type="http://schemas.openxmlformats.org/officeDocument/2006/relationships/image" Target="../media/image59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7.png"/><Relationship Id="rId4" Type="http://schemas.openxmlformats.org/officeDocument/2006/relationships/image" Target="../media/image63.png"/><Relationship Id="rId5" Type="http://schemas.openxmlformats.org/officeDocument/2006/relationships/image" Target="../media/image6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8" title="image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850" y="2488575"/>
            <a:ext cx="3278300" cy="2341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8"/>
          <p:cNvSpPr txBox="1"/>
          <p:nvPr/>
        </p:nvSpPr>
        <p:spPr>
          <a:xfrm>
            <a:off x="2096400" y="852800"/>
            <a:ext cx="4951200" cy="27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2500"/>
              <a:t>Средства администрирования серверов и баз данных. Обзор технологий.</a:t>
            </a:r>
            <a:endParaRPr b="1" i="1" sz="25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>
              <a:highlight>
                <a:srgbClr val="0000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Это инструменты, которые позволяют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управлять серверами,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сайтами,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базами данных,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резервными копиями,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правами пользователей.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управление серверами, сайтами базами данных ,резервными копиями" id="118" name="Google Shape;1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9725" y="650238"/>
            <a:ext cx="3700876" cy="3700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9"/>
          <p:cNvSpPr txBox="1"/>
          <p:nvPr/>
        </p:nvSpPr>
        <p:spPr>
          <a:xfrm>
            <a:off x="118525" y="473775"/>
            <a:ext cx="49512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0F172A"/>
                </a:solidFill>
              </a:rPr>
              <a:t>Средства администрирования</a:t>
            </a:r>
            <a:endParaRPr sz="25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/>
        </p:nvSpPr>
        <p:spPr>
          <a:xfrm>
            <a:off x="381000" y="1333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Инструменты, обеспечивающие полный контроль над инфраструктурой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30"/>
          <p:cNvGrpSpPr/>
          <p:nvPr/>
        </p:nvGrpSpPr>
        <p:grpSpPr>
          <a:xfrm>
            <a:off x="571500" y="2000250"/>
            <a:ext cx="8001150" cy="1905150"/>
            <a:chOff x="571500" y="2000250"/>
            <a:chExt cx="8001150" cy="1905150"/>
          </a:xfrm>
        </p:grpSpPr>
        <p:grpSp>
          <p:nvGrpSpPr>
            <p:cNvPr id="126" name="Google Shape;126;p30"/>
            <p:cNvGrpSpPr/>
            <p:nvPr/>
          </p:nvGrpSpPr>
          <p:grpSpPr>
            <a:xfrm>
              <a:off x="571500" y="2000250"/>
              <a:ext cx="3905400" cy="857400"/>
              <a:chOff x="571500" y="2000250"/>
              <a:chExt cx="3905400" cy="857400"/>
            </a:xfrm>
          </p:grpSpPr>
          <p:sp>
            <p:nvSpPr>
              <p:cNvPr id="127" name="Google Shape;127;p30"/>
              <p:cNvSpPr/>
              <p:nvPr/>
            </p:nvSpPr>
            <p:spPr>
              <a:xfrm>
                <a:off x="571500" y="2000250"/>
                <a:ext cx="39054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30"/>
              <p:cNvSpPr txBox="1"/>
              <p:nvPr/>
            </p:nvSpPr>
            <p:spPr>
              <a:xfrm>
                <a:off x="762000" y="2184019"/>
                <a:ext cx="38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dns</a:t>
                </a:r>
                <a:endParaRPr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9" name="Google Shape;129;p30"/>
              <p:cNvSpPr txBox="1"/>
              <p:nvPr/>
            </p:nvSpPr>
            <p:spPr>
              <a:xfrm>
                <a:off x="1238250" y="214312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6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1. Веб-серверы</a:t>
                </a:r>
                <a:endParaRPr b="1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Централизованное управление веб-ресурсами</a:t>
                </a:r>
                <a:endParaRPr b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30"/>
            <p:cNvGrpSpPr/>
            <p:nvPr/>
          </p:nvGrpSpPr>
          <p:grpSpPr>
            <a:xfrm>
              <a:off x="4667250" y="2000250"/>
              <a:ext cx="3905400" cy="857400"/>
              <a:chOff x="4667250" y="2000250"/>
              <a:chExt cx="3905400" cy="857400"/>
            </a:xfrm>
          </p:grpSpPr>
          <p:sp>
            <p:nvSpPr>
              <p:cNvPr id="131" name="Google Shape;131;p30"/>
              <p:cNvSpPr/>
              <p:nvPr/>
            </p:nvSpPr>
            <p:spPr>
              <a:xfrm>
                <a:off x="4667250" y="2000250"/>
                <a:ext cx="39054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30"/>
              <p:cNvSpPr txBox="1"/>
              <p:nvPr/>
            </p:nvSpPr>
            <p:spPr>
              <a:xfrm>
                <a:off x="4857750" y="2184019"/>
                <a:ext cx="38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8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3" name="Google Shape;133;p30"/>
              <p:cNvSpPr txBox="1"/>
              <p:nvPr/>
            </p:nvSpPr>
            <p:spPr>
              <a:xfrm>
                <a:off x="5334000" y="214312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6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2. Управление СУБД</a:t>
                </a:r>
                <a:endParaRPr b="1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Оптимизация хранения и доступа к данным</a:t>
                </a:r>
                <a:endParaRPr b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" name="Google Shape;134;p30"/>
            <p:cNvGrpSpPr/>
            <p:nvPr/>
          </p:nvGrpSpPr>
          <p:grpSpPr>
            <a:xfrm>
              <a:off x="571500" y="3048000"/>
              <a:ext cx="3905400" cy="857400"/>
              <a:chOff x="571500" y="3048000"/>
              <a:chExt cx="3905400" cy="857400"/>
            </a:xfrm>
          </p:grpSpPr>
          <p:sp>
            <p:nvSpPr>
              <p:cNvPr id="135" name="Google Shape;135;p30"/>
              <p:cNvSpPr/>
              <p:nvPr/>
            </p:nvSpPr>
            <p:spPr>
              <a:xfrm>
                <a:off x="571500" y="3048000"/>
                <a:ext cx="39054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30"/>
              <p:cNvSpPr txBox="1"/>
              <p:nvPr/>
            </p:nvSpPr>
            <p:spPr>
              <a:xfrm>
                <a:off x="762000" y="3231769"/>
                <a:ext cx="38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80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backup</a:t>
                </a:r>
                <a:endParaRPr sz="2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7" name="Google Shape;137;p30"/>
              <p:cNvSpPr txBox="1"/>
              <p:nvPr/>
            </p:nvSpPr>
            <p:spPr>
              <a:xfrm>
                <a:off x="1238250" y="319087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6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3. Резервное копирование</a:t>
                </a:r>
                <a:endParaRPr b="1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Гарантия сохранности и восстановление</a:t>
                </a:r>
                <a:endParaRPr b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30"/>
            <p:cNvGrpSpPr/>
            <p:nvPr/>
          </p:nvGrpSpPr>
          <p:grpSpPr>
            <a:xfrm>
              <a:off x="4667250" y="3048000"/>
              <a:ext cx="3905400" cy="857400"/>
              <a:chOff x="4667250" y="3048000"/>
              <a:chExt cx="3905400" cy="857400"/>
            </a:xfrm>
          </p:grpSpPr>
          <p:sp>
            <p:nvSpPr>
              <p:cNvPr id="139" name="Google Shape;139;p30"/>
              <p:cNvSpPr/>
              <p:nvPr/>
            </p:nvSpPr>
            <p:spPr>
              <a:xfrm>
                <a:off x="4667250" y="3048000"/>
                <a:ext cx="39054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30"/>
              <p:cNvSpPr txBox="1"/>
              <p:nvPr/>
            </p:nvSpPr>
            <p:spPr>
              <a:xfrm>
                <a:off x="4857750" y="3231769"/>
                <a:ext cx="38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8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manage_accounts</a:t>
                </a:r>
                <a:endParaRPr sz="28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1" name="Google Shape;141;p30"/>
              <p:cNvSpPr txBox="1"/>
              <p:nvPr/>
            </p:nvSpPr>
            <p:spPr>
              <a:xfrm>
                <a:off x="5334000" y="319087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6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4. Контроль доступа (RBAC)</a:t>
                </a:r>
                <a:endParaRPr b="1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Гибкое разграничение прав пользователей</a:t>
                </a:r>
                <a:endParaRPr b="0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2" name="Google Shape;142;p30"/>
          <p:cNvSpPr txBox="1"/>
          <p:nvPr/>
        </p:nvSpPr>
        <p:spPr>
          <a:xfrm>
            <a:off x="853800" y="273900"/>
            <a:ext cx="74364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Средства администрирования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3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Администратор просто “следит за компьютерами”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нарисуй хакера который просто сидит за компьютером" id="148" name="Google Shape;1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825" y="1017725"/>
            <a:ext cx="3937725" cy="393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>
                <a:solidFill>
                  <a:srgbClr val="000000"/>
                </a:solidFill>
              </a:rPr>
              <a:t>Администратор НЕ просто “следит за компьютерами”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2"/>
          <p:cNvSpPr txBox="1"/>
          <p:nvPr>
            <p:ph idx="1" type="body"/>
          </p:nvPr>
        </p:nvSpPr>
        <p:spPr>
          <a:xfrm>
            <a:off x="120725" y="1202775"/>
            <a:ext cx="4144500" cy="394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>
                <a:solidFill>
                  <a:srgbClr val="000000"/>
                </a:solidFill>
              </a:rPr>
              <a:t>обеспечивает стабильность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>
                <a:solidFill>
                  <a:srgbClr val="000000"/>
                </a:solidFill>
              </a:rPr>
              <a:t>безопасность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>
                <a:solidFill>
                  <a:srgbClr val="000000"/>
                </a:solidFill>
              </a:rPr>
              <a:t>восстановление системы в случае проблем.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Системный админ обеспечивает стабильность безопасность восстановление системы в случае проблем." id="155" name="Google Shape;155;p32"/>
          <p:cNvPicPr preferRelativeResize="0"/>
          <p:nvPr/>
        </p:nvPicPr>
        <p:blipFill rotWithShape="1">
          <a:blip r:embed="rId3">
            <a:alphaModFix/>
          </a:blip>
          <a:srcRect b="39201" l="0" r="0" t="9643"/>
          <a:stretch/>
        </p:blipFill>
        <p:spPr>
          <a:xfrm>
            <a:off x="4164650" y="1548562"/>
            <a:ext cx="4876800" cy="27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8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Администрирование = Поддержка работы системы</a:t>
            </a:r>
            <a:endParaRPr b="1" sz="248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33"/>
          <p:cNvGrpSpPr/>
          <p:nvPr/>
        </p:nvGrpSpPr>
        <p:grpSpPr>
          <a:xfrm>
            <a:off x="309563" y="1185863"/>
            <a:ext cx="8524800" cy="1095300"/>
            <a:chOff x="309563" y="1185863"/>
            <a:chExt cx="8524800" cy="1095300"/>
          </a:xfrm>
        </p:grpSpPr>
        <p:pic>
          <p:nvPicPr>
            <p:cNvPr id="162" name="Google Shape;16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563" y="1185863"/>
              <a:ext cx="8524800" cy="10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33"/>
            <p:cNvSpPr txBox="1"/>
            <p:nvPr/>
          </p:nvSpPr>
          <p:spPr>
            <a:xfrm>
              <a:off x="571500" y="123825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Администрирование — это </a:t>
              </a:r>
              <a:r>
                <a:rPr b="1" lang="ru" sz="16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управление системой</a:t>
              </a:r>
              <a:r>
                <a:rPr lang="ru" sz="16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: её настройка, обслуживание, контроль и защита. Администратор отвечает за стабильную работу без сбоев.</a:t>
              </a:r>
              <a:endParaRPr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33"/>
          <p:cNvGrpSpPr/>
          <p:nvPr/>
        </p:nvGrpSpPr>
        <p:grpSpPr>
          <a:xfrm>
            <a:off x="381000" y="2381250"/>
            <a:ext cx="8382075" cy="1714500"/>
            <a:chOff x="381000" y="2381250"/>
            <a:chExt cx="8382075" cy="1714500"/>
          </a:xfrm>
        </p:grpSpPr>
        <p:sp>
          <p:nvSpPr>
            <p:cNvPr id="165" name="Google Shape;165;p33"/>
            <p:cNvSpPr/>
            <p:nvPr/>
          </p:nvSpPr>
          <p:spPr>
            <a:xfrm>
              <a:off x="381000" y="2381250"/>
              <a:ext cx="1952700" cy="1714500"/>
            </a:xfrm>
            <a:prstGeom prst="roundRect">
              <a:avLst>
                <a:gd fmla="val 6666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3"/>
            <p:cNvSpPr txBox="1"/>
            <p:nvPr/>
          </p:nvSpPr>
          <p:spPr>
            <a:xfrm>
              <a:off x="523875" y="2559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7" name="Google Shape;167;p33"/>
            <p:cNvSpPr txBox="1"/>
            <p:nvPr/>
          </p:nvSpPr>
          <p:spPr>
            <a:xfrm>
              <a:off x="523875" y="300037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Доступность</a:t>
              </a:r>
              <a:endParaRPr b="1" sz="14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Сайт должен всегда открываться вовремя.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3"/>
            <p:cNvSpPr/>
            <p:nvPr/>
          </p:nvSpPr>
          <p:spPr>
            <a:xfrm>
              <a:off x="2524125" y="2381250"/>
              <a:ext cx="1952700" cy="1714500"/>
            </a:xfrm>
            <a:prstGeom prst="roundRect">
              <a:avLst>
                <a:gd fmla="val 6666" name="adj"/>
              </a:avLst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3"/>
            <p:cNvSpPr txBox="1"/>
            <p:nvPr/>
          </p:nvSpPr>
          <p:spPr>
            <a:xfrm>
              <a:off x="2667000" y="2559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0" name="Google Shape;170;p33"/>
            <p:cNvSpPr txBox="1"/>
            <p:nvPr/>
          </p:nvSpPr>
          <p:spPr>
            <a:xfrm>
              <a:off x="2667000" y="300037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Базы данных</a:t>
              </a:r>
              <a:endParaRPr b="1" sz="1400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Система обязана отвечать на запросы.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3"/>
            <p:cNvSpPr/>
            <p:nvPr/>
          </p:nvSpPr>
          <p:spPr>
            <a:xfrm>
              <a:off x="4667250" y="2381250"/>
              <a:ext cx="1952700" cy="1714500"/>
            </a:xfrm>
            <a:prstGeom prst="roundRect">
              <a:avLst>
                <a:gd fmla="val 6666" name="adj"/>
              </a:avLst>
            </a:prstGeom>
            <a:solidFill>
              <a:srgbClr val="FFF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3"/>
            <p:cNvSpPr txBox="1"/>
            <p:nvPr/>
          </p:nvSpPr>
          <p:spPr>
            <a:xfrm>
              <a:off x="4810125" y="2559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folder_shared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3" name="Google Shape;173;p33"/>
            <p:cNvSpPr txBox="1"/>
            <p:nvPr/>
          </p:nvSpPr>
          <p:spPr>
            <a:xfrm>
              <a:off x="4810125" y="300037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92400E"/>
                  </a:solidFill>
                  <a:latin typeface="Arial"/>
                  <a:ea typeface="Arial"/>
                  <a:cs typeface="Arial"/>
                  <a:sym typeface="Arial"/>
                </a:rPr>
                <a:t>Сохранность</a:t>
              </a:r>
              <a:endParaRPr b="1" sz="14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Файлы не должны теряться или портиться.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3"/>
            <p:cNvSpPr/>
            <p:nvPr/>
          </p:nvSpPr>
          <p:spPr>
            <a:xfrm>
              <a:off x="6810375" y="2381250"/>
              <a:ext cx="19527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3"/>
            <p:cNvSpPr txBox="1"/>
            <p:nvPr/>
          </p:nvSpPr>
          <p:spPr>
            <a:xfrm>
              <a:off x="6953250" y="2559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6" name="Google Shape;176;p33"/>
            <p:cNvSpPr txBox="1"/>
            <p:nvPr/>
          </p:nvSpPr>
          <p:spPr>
            <a:xfrm>
              <a:off x="6953250" y="300037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Безопасность</a:t>
              </a:r>
              <a:endParaRPr b="1" sz="14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Доступ только для авторизованных лиц.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33"/>
          <p:cNvSpPr txBox="1"/>
          <p:nvPr/>
        </p:nvSpPr>
        <p:spPr>
          <a:xfrm>
            <a:off x="381000" y="4381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Администрирование — это не одна задача, а комплекс из множества направлений.</a:t>
            </a:r>
            <a:endParaRPr i="1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Основные группы средств администрирования</a:t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183" name="Google Shape;183;p34"/>
          <p:cNvGraphicFramePr/>
          <p:nvPr/>
        </p:nvGraphicFramePr>
        <p:xfrm>
          <a:off x="311700" y="127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{9231DD4A-00E7-49F3-BD3E-B96F6FB43EC1}</a:tableStyleId>
              </a:tblPr>
              <a:tblGrid>
                <a:gridCol w="2040050"/>
                <a:gridCol w="2040050"/>
                <a:gridCol w="2040050"/>
                <a:gridCol w="2040050"/>
              </a:tblGrid>
              <a:tr h="98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Веб-серверы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Инструменты управления базами данных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Резервное копирование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Управление пользователями и доступом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12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отвечают за обработку запросов к сайтам и веб-приложениям.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нужны, чтобы удобно управлять данными, таблицами, пользователями и запросами.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отвечают за </a:t>
                      </a:r>
                      <a:r>
                        <a:rPr lang="ru"/>
                        <a:t>защиту от потери информации.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отвечают за </a:t>
                      </a:r>
                      <a:r>
                        <a:rPr lang="ru"/>
                        <a:t>управление пользователями и правами доступа.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Веб-сервер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311700" y="1152475"/>
            <a:ext cx="4920600" cy="3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0000"/>
                </a:solidFill>
              </a:rPr>
              <a:t>Программное обеспечение, принимающее HTTP-запросы и отдающее HTTP-ответы (файлы, страницы).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1429"/>
              <a:buFont typeface="Arial"/>
              <a:buNone/>
            </a:pPr>
            <a:r>
              <a:rPr lang="ru" sz="3500">
                <a:solidFill>
                  <a:srgbClr val="000000"/>
                </a:solidFill>
              </a:rPr>
              <a:t>Он может отдать:</a:t>
            </a:r>
            <a:br>
              <a:rPr lang="ru" sz="3500">
                <a:solidFill>
                  <a:srgbClr val="000000"/>
                </a:solidFill>
              </a:rPr>
            </a:br>
            <a:r>
              <a:rPr lang="ru" sz="3500">
                <a:solidFill>
                  <a:srgbClr val="000000"/>
                </a:solidFill>
              </a:rPr>
              <a:t>- HTML-страницу,</a:t>
            </a:r>
            <a:br>
              <a:rPr lang="ru" sz="3500">
                <a:solidFill>
                  <a:srgbClr val="000000"/>
                </a:solidFill>
              </a:rPr>
            </a:br>
            <a:r>
              <a:rPr lang="ru" sz="3500">
                <a:solidFill>
                  <a:srgbClr val="000000"/>
                </a:solidFill>
              </a:rPr>
              <a:t>- картинку,</a:t>
            </a:r>
            <a:br>
              <a:rPr lang="ru" sz="3500">
                <a:solidFill>
                  <a:srgbClr val="000000"/>
                </a:solidFill>
              </a:rPr>
            </a:br>
            <a:r>
              <a:rPr lang="ru" sz="3500">
                <a:solidFill>
                  <a:srgbClr val="000000"/>
                </a:solidFill>
              </a:rPr>
              <a:t>- стили,</a:t>
            </a:r>
            <a:br>
              <a:rPr lang="ru" sz="3500">
                <a:solidFill>
                  <a:srgbClr val="000000"/>
                </a:solidFill>
              </a:rPr>
            </a:br>
            <a:r>
              <a:rPr lang="ru" sz="3500">
                <a:solidFill>
                  <a:srgbClr val="000000"/>
                </a:solidFill>
              </a:rPr>
              <a:t>- скрипты,</a:t>
            </a:r>
            <a:br>
              <a:rPr lang="ru" sz="3500">
                <a:solidFill>
                  <a:srgbClr val="000000"/>
                </a:solidFill>
              </a:rPr>
            </a:br>
            <a:r>
              <a:rPr lang="ru" sz="3500">
                <a:solidFill>
                  <a:srgbClr val="000000"/>
                </a:solidFill>
              </a:rPr>
              <a:t>- передать запрос дальше в приложение.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1429"/>
              <a:buFont typeface="Arial"/>
              <a:buNone/>
            </a:pPr>
            <a:r>
              <a:rPr lang="ru" sz="3500">
                <a:solidFill>
                  <a:srgbClr val="000000"/>
                </a:solidFill>
              </a:rPr>
              <a:t>То есть веб-сервер — это программа, которая встречает запросы от пользователей и выдаёт им ответ.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Схема:&#10;Пользователь → Браузер → Веб-сервер → Ответ" id="190" name="Google Shape;1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900" y="1152475"/>
            <a:ext cx="341640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000000"/>
                </a:solidFill>
              </a:rPr>
              <a:t>Где применяется веб-сервер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96" name="Google Shape;196;p36"/>
          <p:cNvSpPr txBox="1"/>
          <p:nvPr/>
        </p:nvSpPr>
        <p:spPr>
          <a:xfrm>
            <a:off x="400050" y="1143000"/>
            <a:ext cx="834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Веб-сервер нужен не только для обычных сайтов. 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Он используется почти везде, где есть работа через браузер. 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Например, он может обслуживать: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36"/>
          <p:cNvGrpSpPr/>
          <p:nvPr/>
        </p:nvGrpSpPr>
        <p:grpSpPr>
          <a:xfrm>
            <a:off x="400050" y="1905000"/>
            <a:ext cx="2571900" cy="1047900"/>
            <a:chOff x="400050" y="1905000"/>
            <a:chExt cx="2571900" cy="1047900"/>
          </a:xfrm>
        </p:grpSpPr>
        <p:sp>
          <p:nvSpPr>
            <p:cNvPr id="198" name="Google Shape;198;p36"/>
            <p:cNvSpPr/>
            <p:nvPr/>
          </p:nvSpPr>
          <p:spPr>
            <a:xfrm>
              <a:off x="400050" y="1905000"/>
              <a:ext cx="2571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6"/>
            <p:cNvSpPr txBox="1"/>
            <p:nvPr/>
          </p:nvSpPr>
          <p:spPr>
            <a:xfrm>
              <a:off x="495300" y="2035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0" name="Google Shape;200;p36"/>
            <p:cNvSpPr txBox="1"/>
            <p:nvPr/>
          </p:nvSpPr>
          <p:spPr>
            <a:xfrm>
              <a:off x="495300" y="242887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Сайт колледжа</a:t>
              </a:r>
              <a:endParaRPr b="1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36"/>
          <p:cNvGrpSpPr/>
          <p:nvPr/>
        </p:nvGrpSpPr>
        <p:grpSpPr>
          <a:xfrm>
            <a:off x="3286125" y="1905000"/>
            <a:ext cx="2571900" cy="1047900"/>
            <a:chOff x="3286125" y="1905000"/>
            <a:chExt cx="2571900" cy="1047900"/>
          </a:xfrm>
        </p:grpSpPr>
        <p:sp>
          <p:nvSpPr>
            <p:cNvPr id="202" name="Google Shape;202;p36"/>
            <p:cNvSpPr/>
            <p:nvPr/>
          </p:nvSpPr>
          <p:spPr>
            <a:xfrm>
              <a:off x="3286125" y="1905000"/>
              <a:ext cx="2571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6"/>
            <p:cNvSpPr txBox="1"/>
            <p:nvPr/>
          </p:nvSpPr>
          <p:spPr>
            <a:xfrm>
              <a:off x="3381375" y="2035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shopping_cart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4" name="Google Shape;204;p36"/>
            <p:cNvSpPr txBox="1"/>
            <p:nvPr/>
          </p:nvSpPr>
          <p:spPr>
            <a:xfrm>
              <a:off x="3381375" y="242887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Интернет-магазин</a:t>
              </a:r>
              <a:endParaRPr b="1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36"/>
          <p:cNvGrpSpPr/>
          <p:nvPr/>
        </p:nvGrpSpPr>
        <p:grpSpPr>
          <a:xfrm>
            <a:off x="6172200" y="1905000"/>
            <a:ext cx="2571900" cy="1047900"/>
            <a:chOff x="6172200" y="1905000"/>
            <a:chExt cx="2571900" cy="1047900"/>
          </a:xfrm>
        </p:grpSpPr>
        <p:sp>
          <p:nvSpPr>
            <p:cNvPr id="206" name="Google Shape;206;p36"/>
            <p:cNvSpPr/>
            <p:nvPr/>
          </p:nvSpPr>
          <p:spPr>
            <a:xfrm>
              <a:off x="6172200" y="1905000"/>
              <a:ext cx="2571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6"/>
            <p:cNvSpPr txBox="1"/>
            <p:nvPr/>
          </p:nvSpPr>
          <p:spPr>
            <a:xfrm>
              <a:off x="6267450" y="2035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8" name="Google Shape;208;p36"/>
            <p:cNvSpPr txBox="1"/>
            <p:nvPr/>
          </p:nvSpPr>
          <p:spPr>
            <a:xfrm>
              <a:off x="6267450" y="242887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Электронный документооборот</a:t>
              </a:r>
              <a:endParaRPr b="1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36"/>
          <p:cNvGrpSpPr/>
          <p:nvPr/>
        </p:nvGrpSpPr>
        <p:grpSpPr>
          <a:xfrm>
            <a:off x="1838325" y="3143250"/>
            <a:ext cx="2571900" cy="1047900"/>
            <a:chOff x="1838325" y="3143250"/>
            <a:chExt cx="2571900" cy="1047900"/>
          </a:xfrm>
        </p:grpSpPr>
        <p:sp>
          <p:nvSpPr>
            <p:cNvPr id="210" name="Google Shape;210;p36"/>
            <p:cNvSpPr/>
            <p:nvPr/>
          </p:nvSpPr>
          <p:spPr>
            <a:xfrm>
              <a:off x="1838325" y="3143250"/>
              <a:ext cx="2571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6"/>
            <p:cNvSpPr txBox="1"/>
            <p:nvPr/>
          </p:nvSpPr>
          <p:spPr>
            <a:xfrm>
              <a:off x="1933575" y="3273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2" name="Google Shape;212;p36"/>
            <p:cNvSpPr txBox="1"/>
            <p:nvPr/>
          </p:nvSpPr>
          <p:spPr>
            <a:xfrm>
              <a:off x="1933575" y="366712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Кабинет администратора</a:t>
              </a:r>
              <a:endParaRPr b="1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36"/>
          <p:cNvGrpSpPr/>
          <p:nvPr/>
        </p:nvGrpSpPr>
        <p:grpSpPr>
          <a:xfrm>
            <a:off x="4724400" y="3143250"/>
            <a:ext cx="2571900" cy="1047900"/>
            <a:chOff x="4724400" y="3143250"/>
            <a:chExt cx="2571900" cy="1047900"/>
          </a:xfrm>
        </p:grpSpPr>
        <p:sp>
          <p:nvSpPr>
            <p:cNvPr id="214" name="Google Shape;214;p36"/>
            <p:cNvSpPr/>
            <p:nvPr/>
          </p:nvSpPr>
          <p:spPr>
            <a:xfrm>
              <a:off x="4724400" y="3143250"/>
              <a:ext cx="2571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6"/>
            <p:cNvSpPr txBox="1"/>
            <p:nvPr/>
          </p:nvSpPr>
          <p:spPr>
            <a:xfrm>
              <a:off x="4819650" y="3273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6" name="Google Shape;216;p36"/>
            <p:cNvSpPr txBox="1"/>
            <p:nvPr/>
          </p:nvSpPr>
          <p:spPr>
            <a:xfrm>
              <a:off x="4819650" y="366712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Внутренняя панель компании</a:t>
              </a:r>
              <a:endParaRPr b="1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81000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1E293B"/>
                </a:solidFill>
              </a:rPr>
              <a:t>Apache</a:t>
            </a:r>
            <a:endParaRPr sz="2500">
              <a:solidFill>
                <a:srgbClr val="1E293B"/>
              </a:solidFill>
            </a:endParaRPr>
          </a:p>
        </p:txBody>
      </p:sp>
      <p:grpSp>
        <p:nvGrpSpPr>
          <p:cNvPr id="222" name="Google Shape;222;p37"/>
          <p:cNvGrpSpPr/>
          <p:nvPr/>
        </p:nvGrpSpPr>
        <p:grpSpPr>
          <a:xfrm>
            <a:off x="381000" y="1143000"/>
            <a:ext cx="4381500" cy="3524250"/>
            <a:chOff x="381000" y="1143000"/>
            <a:chExt cx="4381500" cy="3524250"/>
          </a:xfrm>
        </p:grpSpPr>
        <p:sp>
          <p:nvSpPr>
            <p:cNvPr id="223" name="Google Shape;223;p37"/>
            <p:cNvSpPr/>
            <p:nvPr/>
          </p:nvSpPr>
          <p:spPr>
            <a:xfrm>
              <a:off x="381000" y="1143000"/>
              <a:ext cx="43815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7"/>
            <p:cNvSpPr txBox="1"/>
            <p:nvPr/>
          </p:nvSpPr>
          <p:spPr>
            <a:xfrm>
              <a:off x="571500" y="1238250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Один из самых известных веб-серверов</a:t>
              </a:r>
              <a:endParaRPr b="1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rgbClr val="475569"/>
                  </a:solidFill>
                </a:rPr>
                <a:t>Создает отдельный поток или процесс для каждого подлючения.</a:t>
              </a:r>
              <a:endParaRPr b="0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7"/>
            <p:cNvSpPr/>
            <p:nvPr/>
          </p:nvSpPr>
          <p:spPr>
            <a:xfrm>
              <a:off x="381000" y="2571750"/>
              <a:ext cx="43815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7"/>
            <p:cNvSpPr txBox="1"/>
            <p:nvPr/>
          </p:nvSpPr>
          <p:spPr>
            <a:xfrm>
              <a:off x="571500" y="2714625"/>
              <a:ext cx="4000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Ключевые преимущества:</a:t>
              </a:r>
              <a:endParaRPr b="1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300"/>
                <a:buFont typeface="Arial"/>
                <a:buChar char="●"/>
              </a:pPr>
              <a:r>
                <a:rPr lang="ru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Гибкость в настройке под любые задачи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300"/>
                <a:buFont typeface="Arial"/>
                <a:buChar char="●"/>
              </a:pPr>
              <a:r>
                <a:rPr lang="ru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Проверенная временем стабильность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300"/>
                <a:buFont typeface="Arial"/>
                <a:buChar char="●"/>
              </a:pPr>
              <a:r>
                <a:rPr lang="ru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Огромное сообщество и база знаний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300"/>
                <a:buFont typeface="Arial"/>
                <a:buChar char="●"/>
              </a:pPr>
              <a:r>
                <a:rPr lang="ru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Подходит для большинства типов сайтов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7" name="Google Shape;227;p37"/>
          <p:cNvPicPr preferRelativeResize="0"/>
          <p:nvPr/>
        </p:nvPicPr>
        <p:blipFill rotWithShape="1">
          <a:blip r:embed="rId4">
            <a:alphaModFix/>
          </a:blip>
          <a:srcRect b="3755" l="0" r="0" t="3746"/>
          <a:stretch/>
        </p:blipFill>
        <p:spPr>
          <a:xfrm>
            <a:off x="4953000" y="1143000"/>
            <a:ext cx="3810000" cy="3524400"/>
          </a:xfrm>
          <a:prstGeom prst="roundRect">
            <a:avLst>
              <a:gd fmla="val 32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/>
        </p:nvSpPr>
        <p:spPr>
          <a:xfrm>
            <a:off x="381000" y="61787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Принцип работы Apache</a:t>
            </a:r>
            <a:endParaRPr sz="2500"/>
          </a:p>
        </p:txBody>
      </p:sp>
      <p:grpSp>
        <p:nvGrpSpPr>
          <p:cNvPr id="234" name="Google Shape;234;p38"/>
          <p:cNvGrpSpPr/>
          <p:nvPr/>
        </p:nvGrpSpPr>
        <p:grpSpPr>
          <a:xfrm>
            <a:off x="571500" y="1714500"/>
            <a:ext cx="5334000" cy="952500"/>
            <a:chOff x="571500" y="1714500"/>
            <a:chExt cx="5334000" cy="952500"/>
          </a:xfrm>
        </p:grpSpPr>
        <p:sp>
          <p:nvSpPr>
            <p:cNvPr id="235" name="Google Shape;235;p38"/>
            <p:cNvSpPr/>
            <p:nvPr/>
          </p:nvSpPr>
          <p:spPr>
            <a:xfrm>
              <a:off x="571500" y="1714500"/>
              <a:ext cx="2095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8"/>
            <p:cNvSpPr txBox="1"/>
            <p:nvPr/>
          </p:nvSpPr>
          <p:spPr>
            <a:xfrm>
              <a:off x="762000" y="1857375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b="1" sz="10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Запрос 1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7" name="Google Shape;23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67000" y="2105025"/>
              <a:ext cx="952500" cy="1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38"/>
            <p:cNvSpPr/>
            <p:nvPr/>
          </p:nvSpPr>
          <p:spPr>
            <a:xfrm>
              <a:off x="3810000" y="1714500"/>
              <a:ext cx="2095500" cy="952500"/>
            </a:xfrm>
            <a:prstGeom prst="roundRect">
              <a:avLst>
                <a:gd fmla="val 12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8"/>
            <p:cNvSpPr txBox="1"/>
            <p:nvPr/>
          </p:nvSpPr>
          <p:spPr>
            <a:xfrm>
              <a:off x="4000500" y="1857375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PROCESS</a:t>
              </a:r>
              <a:endParaRPr b="1" sz="1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Поток 1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38"/>
          <p:cNvGrpSpPr/>
          <p:nvPr/>
        </p:nvGrpSpPr>
        <p:grpSpPr>
          <a:xfrm>
            <a:off x="571500" y="3048000"/>
            <a:ext cx="5334000" cy="952500"/>
            <a:chOff x="571500" y="3048000"/>
            <a:chExt cx="5334000" cy="952500"/>
          </a:xfrm>
        </p:grpSpPr>
        <p:sp>
          <p:nvSpPr>
            <p:cNvPr id="241" name="Google Shape;241;p38"/>
            <p:cNvSpPr/>
            <p:nvPr/>
          </p:nvSpPr>
          <p:spPr>
            <a:xfrm>
              <a:off x="571500" y="3048000"/>
              <a:ext cx="2095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8"/>
            <p:cNvSpPr txBox="1"/>
            <p:nvPr/>
          </p:nvSpPr>
          <p:spPr>
            <a:xfrm>
              <a:off x="762000" y="3190875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b="1" sz="10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Запрос 2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3" name="Google Shape;24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67000" y="3438525"/>
              <a:ext cx="952500" cy="1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38"/>
            <p:cNvSpPr/>
            <p:nvPr/>
          </p:nvSpPr>
          <p:spPr>
            <a:xfrm>
              <a:off x="3810000" y="3048000"/>
              <a:ext cx="2095500" cy="952500"/>
            </a:xfrm>
            <a:prstGeom prst="roundRect">
              <a:avLst>
                <a:gd fmla="val 12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8"/>
            <p:cNvSpPr txBox="1"/>
            <p:nvPr/>
          </p:nvSpPr>
          <p:spPr>
            <a:xfrm>
              <a:off x="4000500" y="3190875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PROCESS</a:t>
              </a:r>
              <a:endParaRPr b="1" sz="1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Поток 2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Modern server rack infrastructure with glowing blue lights, minimalist and clean technical aesthetic." id="246" name="Google Shape;246;p38"/>
          <p:cNvPicPr preferRelativeResize="0"/>
          <p:nvPr/>
        </p:nvPicPr>
        <p:blipFill rotWithShape="1">
          <a:blip r:embed="rId5">
            <a:alphaModFix/>
          </a:blip>
          <a:srcRect b="-19222" l="0" r="-53846" t="3842"/>
          <a:stretch/>
        </p:blipFill>
        <p:spPr>
          <a:xfrm>
            <a:off x="6286500" y="1714500"/>
            <a:ext cx="38100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247" name="Google Shape;247;p38"/>
          <p:cNvSpPr/>
          <p:nvPr/>
        </p:nvSpPr>
        <p:spPr>
          <a:xfrm>
            <a:off x="381000" y="4381500"/>
            <a:ext cx="8382000" cy="4764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8"/>
          <p:cNvSpPr txBox="1"/>
          <p:nvPr/>
        </p:nvSpPr>
        <p:spPr>
          <a:xfrm>
            <a:off x="571500" y="43815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Apache создает отдельный поток или процесс для каждого входящего подключения.</a:t>
            </a:r>
            <a:endParaRPr b="0" sz="12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1E293B"/>
                </a:solidFill>
              </a:rPr>
              <a:t>Nginx</a:t>
            </a:r>
            <a:endParaRPr sz="2500">
              <a:solidFill>
                <a:srgbClr val="1E293B"/>
              </a:solidFill>
            </a:endParaRPr>
          </a:p>
        </p:txBody>
      </p:sp>
      <p:grpSp>
        <p:nvGrpSpPr>
          <p:cNvPr id="254" name="Google Shape;254;p39"/>
          <p:cNvGrpSpPr/>
          <p:nvPr/>
        </p:nvGrpSpPr>
        <p:grpSpPr>
          <a:xfrm>
            <a:off x="381000" y="909200"/>
            <a:ext cx="4381500" cy="1333500"/>
            <a:chOff x="381000" y="1143000"/>
            <a:chExt cx="4381500" cy="1333500"/>
          </a:xfrm>
        </p:grpSpPr>
        <p:sp>
          <p:nvSpPr>
            <p:cNvPr id="255" name="Google Shape;255;p39"/>
            <p:cNvSpPr/>
            <p:nvPr/>
          </p:nvSpPr>
          <p:spPr>
            <a:xfrm>
              <a:off x="381000" y="1143000"/>
              <a:ext cx="43815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9"/>
            <p:cNvSpPr txBox="1"/>
            <p:nvPr/>
          </p:nvSpPr>
          <p:spPr>
            <a:xfrm>
              <a:off x="571500" y="1285875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rgbClr val="475569"/>
                  </a:solidFill>
                </a:rPr>
                <a:t>Ориентирован на высокую производительность и низкое </a:t>
              </a:r>
              <a:r>
                <a:rPr lang="ru">
                  <a:solidFill>
                    <a:srgbClr val="475569"/>
                  </a:solidFill>
                </a:rPr>
                <a:t>потребление</a:t>
              </a:r>
              <a:r>
                <a:rPr lang="ru">
                  <a:solidFill>
                    <a:srgbClr val="475569"/>
                  </a:solidFill>
                </a:rPr>
                <a:t> памяти.</a:t>
              </a:r>
              <a:endParaRPr b="0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39"/>
          <p:cNvGrpSpPr/>
          <p:nvPr/>
        </p:nvGrpSpPr>
        <p:grpSpPr>
          <a:xfrm>
            <a:off x="381000" y="2312050"/>
            <a:ext cx="4381500" cy="2556500"/>
            <a:chOff x="381000" y="2233000"/>
            <a:chExt cx="4381500" cy="2556500"/>
          </a:xfrm>
        </p:grpSpPr>
        <p:sp>
          <p:nvSpPr>
            <p:cNvPr id="258" name="Google Shape;258;p39"/>
            <p:cNvSpPr/>
            <p:nvPr/>
          </p:nvSpPr>
          <p:spPr>
            <a:xfrm>
              <a:off x="381000" y="2233000"/>
              <a:ext cx="4381500" cy="2000100"/>
            </a:xfrm>
            <a:prstGeom prst="roundRect">
              <a:avLst>
                <a:gd fmla="val 804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9"/>
            <p:cNvSpPr txBox="1"/>
            <p:nvPr/>
          </p:nvSpPr>
          <p:spPr>
            <a:xfrm>
              <a:off x="571500" y="2476500"/>
              <a:ext cx="4000500" cy="23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Ключевые особенности:</a:t>
              </a:r>
              <a:endParaRPr b="1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34343"/>
                </a:buClr>
                <a:buSzPts val="1000"/>
                <a:buFont typeface="Arial"/>
                <a:buChar char="●"/>
              </a:pPr>
              <a:r>
                <a:rPr b="0" lang="ru" sz="10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Быстрый и эффективный веб-сервер</a:t>
              </a:r>
              <a:endParaRPr b="0" sz="1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34343"/>
                </a:buClr>
                <a:buSzPts val="1000"/>
                <a:buFont typeface="Arial"/>
                <a:buChar char="●"/>
              </a:pPr>
              <a:r>
                <a:rPr b="0" lang="ru" sz="10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Хорошо работает под нагрузкой</a:t>
              </a:r>
              <a:endParaRPr b="0" sz="1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34343"/>
                </a:buClr>
                <a:buSzPts val="1000"/>
                <a:buFont typeface="Arial"/>
                <a:buChar char="●"/>
              </a:pPr>
              <a:r>
                <a:rPr b="0" lang="ru" sz="10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Часто используется как обратный прокси </a:t>
              </a:r>
              <a:r>
                <a:rPr lang="ru" sz="1000">
                  <a:solidFill>
                    <a:srgbClr val="434343"/>
                  </a:solidFill>
                </a:rPr>
                <a:t>- это технология, при которой сервер (прокси) принимает запросы от пользователей из интернета и перенаправляет их на один или несколько внутренних веб-серверов, скрывая их структуру</a:t>
              </a:r>
              <a:endParaRPr b="0" sz="1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34343"/>
                </a:buClr>
                <a:buSzPts val="1000"/>
                <a:buFont typeface="Arial"/>
                <a:buChar char="●"/>
              </a:pPr>
              <a:r>
                <a:rPr b="0" lang="ru" sz="1000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Может быть балансировщиком нагрузки</a:t>
              </a:r>
              <a:endParaRPr b="0" sz="1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0" name="Google Shape;260;p39"/>
          <p:cNvPicPr preferRelativeResize="0"/>
          <p:nvPr/>
        </p:nvPicPr>
        <p:blipFill rotWithShape="1">
          <a:blip r:embed="rId4">
            <a:alphaModFix/>
          </a:blip>
          <a:srcRect b="7502" l="0" r="0" t="0"/>
          <a:stretch/>
        </p:blipFill>
        <p:spPr>
          <a:xfrm>
            <a:off x="4953000" y="1239600"/>
            <a:ext cx="3810000" cy="2664300"/>
          </a:xfrm>
          <a:prstGeom prst="roundRect">
            <a:avLst>
              <a:gd fmla="val 3243" name="adj"/>
            </a:avLst>
          </a:prstGeom>
          <a:noFill/>
          <a:ln>
            <a:noFill/>
          </a:ln>
        </p:spPr>
      </p:pic>
      <p:grpSp>
        <p:nvGrpSpPr>
          <p:cNvPr id="261" name="Google Shape;261;p39"/>
          <p:cNvGrpSpPr/>
          <p:nvPr/>
        </p:nvGrpSpPr>
        <p:grpSpPr>
          <a:xfrm>
            <a:off x="381000" y="4381500"/>
            <a:ext cx="8382000" cy="571500"/>
            <a:chOff x="381000" y="4381500"/>
            <a:chExt cx="8382000" cy="571500"/>
          </a:xfrm>
        </p:grpSpPr>
        <p:sp>
          <p:nvSpPr>
            <p:cNvPr id="262" name="Google Shape;262;p39"/>
            <p:cNvSpPr/>
            <p:nvPr/>
          </p:nvSpPr>
          <p:spPr>
            <a:xfrm>
              <a:off x="381000" y="438150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9"/>
            <p:cNvSpPr txBox="1"/>
            <p:nvPr/>
          </p:nvSpPr>
          <p:spPr>
            <a:xfrm>
              <a:off x="571500" y="43815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50">
                  <a:highlight>
                    <a:schemeClr val="lt1"/>
                  </a:highlight>
                </a:rPr>
                <a:t>Веб-сервер Nginx можно установить на разные операционные системы: Linux (дистрибутивы Ubuntu, Debian, CentOS и другие), Unix-подобные (например, FreeBSD или облачные) или macOS.</a:t>
              </a:r>
              <a:endParaRPr sz="1100">
                <a:solidFill>
                  <a:srgbClr val="47556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very subtle background texture with abstract digital grid lines and nodes, light grey on white, professional technical aesthetic." id="268" name="Google Shape;26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Архитектура Nginx</a:t>
            </a:r>
            <a:endParaRPr b="0" sz="25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0"/>
          <p:cNvSpPr/>
          <p:nvPr/>
        </p:nvSpPr>
        <p:spPr>
          <a:xfrm>
            <a:off x="381000" y="1143000"/>
            <a:ext cx="4381500" cy="13335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0"/>
          <p:cNvSpPr txBox="1"/>
          <p:nvPr/>
        </p:nvSpPr>
        <p:spPr>
          <a:xfrm>
            <a:off x="571500" y="1285875"/>
            <a:ext cx="4000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Событийно-ориентированная модель</a:t>
            </a:r>
            <a:endParaRPr b="1" sz="14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ru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Один процесс эффективно обрабатывает тысячи соединений одновременно без создания новых потоков.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" name="Google Shape;272;p40"/>
          <p:cNvGrpSpPr/>
          <p:nvPr/>
        </p:nvGrpSpPr>
        <p:grpSpPr>
          <a:xfrm>
            <a:off x="571500" y="2667000"/>
            <a:ext cx="4191000" cy="1143000"/>
            <a:chOff x="571500" y="2667000"/>
            <a:chExt cx="4191000" cy="1143000"/>
          </a:xfrm>
        </p:grpSpPr>
        <p:sp>
          <p:nvSpPr>
            <p:cNvPr id="273" name="Google Shape;273;p40"/>
            <p:cNvSpPr/>
            <p:nvPr/>
          </p:nvSpPr>
          <p:spPr>
            <a:xfrm>
              <a:off x="571500" y="2857500"/>
              <a:ext cx="1524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0"/>
            <p:cNvSpPr txBox="1"/>
            <p:nvPr/>
          </p:nvSpPr>
          <p:spPr>
            <a:xfrm>
              <a:off x="571500" y="2857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3B82F6"/>
                  </a:solidFill>
                </a:rPr>
                <a:t>INPUT</a:t>
              </a:r>
              <a:endParaRPr b="1" sz="1000">
                <a:solidFill>
                  <a:srgbClr val="3B82F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1E293B"/>
                  </a:solidFill>
                </a:rPr>
                <a:t>Запросы</a:t>
              </a:r>
              <a:endParaRPr b="1" sz="1800">
                <a:solidFill>
                  <a:srgbClr val="1E293B"/>
                </a:solidFill>
              </a:endParaRPr>
            </a:p>
          </p:txBody>
        </p:sp>
        <p:pic>
          <p:nvPicPr>
            <p:cNvPr id="275" name="Google Shape;27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95500" y="3181350"/>
              <a:ext cx="4764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40"/>
            <p:cNvSpPr/>
            <p:nvPr/>
          </p:nvSpPr>
          <p:spPr>
            <a:xfrm>
              <a:off x="2667000" y="2667000"/>
              <a:ext cx="2095500" cy="1143000"/>
            </a:xfrm>
            <a:prstGeom prst="roundRect">
              <a:avLst>
                <a:gd fmla="val 10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0"/>
            <p:cNvSpPr txBox="1"/>
            <p:nvPr/>
          </p:nvSpPr>
          <p:spPr>
            <a:xfrm>
              <a:off x="2667000" y="2667000"/>
              <a:ext cx="2095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1D4ED8"/>
                  </a:solidFill>
                </a:rPr>
                <a:t>EVENT LOOP</a:t>
              </a:r>
              <a:endParaRPr b="1" sz="1000">
                <a:solidFill>
                  <a:srgbClr val="1D4ED8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1E293B"/>
                  </a:solidFill>
                </a:rPr>
                <a:t>Worker Process</a:t>
              </a:r>
              <a:endParaRPr b="1" sz="1800">
                <a:solidFill>
                  <a:srgbClr val="1E293B"/>
                </a:solidFill>
              </a:endParaRPr>
            </a:p>
          </p:txBody>
        </p:sp>
      </p:grpSp>
      <p:pic>
        <p:nvPicPr>
          <p:cNvPr descr="High-tech conceptual illustration of a central processing node handling multiple data streams or glowing fiber optic lines, dark blue and cyan tones, minimalist." id="278" name="Google Shape;27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0" y="1143000"/>
            <a:ext cx="38100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279" name="Google Shape;279;p40"/>
          <p:cNvSpPr/>
          <p:nvPr/>
        </p:nvSpPr>
        <p:spPr>
          <a:xfrm>
            <a:off x="381000" y="4381500"/>
            <a:ext cx="8382000" cy="4764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0"/>
          <p:cNvSpPr txBox="1"/>
          <p:nvPr/>
        </p:nvSpPr>
        <p:spPr>
          <a:xfrm>
            <a:off x="571500" y="43815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В отличие от Apache, Nginx не создает процесс под каждого клиента, а использует асинхронную очередь событий.</a:t>
            </a:r>
            <a:endParaRPr b="0" sz="12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Apache и Nginx: в чём разница</a:t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286" name="Google Shape;286;p41"/>
          <p:cNvGraphicFramePr/>
          <p:nvPr/>
        </p:nvGraphicFramePr>
        <p:xfrm>
          <a:off x="1725975" y="117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{9231DD4A-00E7-49F3-BD3E-B96F6FB43EC1}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Критерий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Apache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Nginx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Особенность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гибкая настройка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высокая скорость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Частая роль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классический веб-сервер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фронт-сервер, прокси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Сильная сторона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универсальность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эффективность под нагрузкой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7" name="Google Shape;287;p41"/>
          <p:cNvSpPr/>
          <p:nvPr/>
        </p:nvSpPr>
        <p:spPr>
          <a:xfrm>
            <a:off x="249600" y="3629175"/>
            <a:ext cx="8382000" cy="7533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lt1"/>
                </a:solidFill>
              </a:rPr>
              <a:t>Apache часто выбирают за универсальность и гибкость.</a:t>
            </a:r>
            <a:br>
              <a:rPr lang="ru">
                <a:solidFill>
                  <a:schemeClr val="lt1"/>
                </a:solidFill>
              </a:rPr>
            </a:br>
            <a:r>
              <a:rPr lang="ru">
                <a:solidFill>
                  <a:schemeClr val="lt1"/>
                </a:solidFill>
              </a:rPr>
              <a:t>Nginx — за производительность и удобство в роли фронт-сервера.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 txBox="1"/>
          <p:nvPr>
            <p:ph type="title"/>
          </p:nvPr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Совместное использование (Связка)</a:t>
            </a:r>
            <a:endParaRPr b="0" sz="28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42"/>
          <p:cNvGrpSpPr/>
          <p:nvPr/>
        </p:nvGrpSpPr>
        <p:grpSpPr>
          <a:xfrm>
            <a:off x="381000" y="1143000"/>
            <a:ext cx="8382000" cy="952500"/>
            <a:chOff x="381000" y="1143000"/>
            <a:chExt cx="8382000" cy="952500"/>
          </a:xfrm>
        </p:grpSpPr>
        <p:sp>
          <p:nvSpPr>
            <p:cNvPr id="295" name="Google Shape;295;p42"/>
            <p:cNvSpPr/>
            <p:nvPr/>
          </p:nvSpPr>
          <p:spPr>
            <a:xfrm>
              <a:off x="381000" y="1143000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2"/>
            <p:cNvSpPr txBox="1"/>
            <p:nvPr/>
          </p:nvSpPr>
          <p:spPr>
            <a:xfrm>
              <a:off x="571500" y="123825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Nginx принимает запросы (фронтенд) и отдает статику. Apache обрабатывает PHP/Python (бэкенд).</a:t>
              </a:r>
              <a:endParaRPr b="0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42"/>
          <p:cNvGrpSpPr/>
          <p:nvPr/>
        </p:nvGrpSpPr>
        <p:grpSpPr>
          <a:xfrm>
            <a:off x="762000" y="2667000"/>
            <a:ext cx="1714500" cy="952500"/>
            <a:chOff x="762000" y="2667000"/>
            <a:chExt cx="1714500" cy="952500"/>
          </a:xfrm>
        </p:grpSpPr>
        <p:sp>
          <p:nvSpPr>
            <p:cNvPr id="298" name="Google Shape;298;p42"/>
            <p:cNvSpPr/>
            <p:nvPr/>
          </p:nvSpPr>
          <p:spPr>
            <a:xfrm>
              <a:off x="762000" y="2667000"/>
              <a:ext cx="1714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2"/>
            <p:cNvSpPr txBox="1"/>
            <p:nvPr/>
          </p:nvSpPr>
          <p:spPr>
            <a:xfrm>
              <a:off x="762000" y="266700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Клиент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0" name="Google Shape;30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0" y="3076575"/>
            <a:ext cx="857400" cy="13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42"/>
          <p:cNvGrpSpPr/>
          <p:nvPr/>
        </p:nvGrpSpPr>
        <p:grpSpPr>
          <a:xfrm>
            <a:off x="3238500" y="2571750"/>
            <a:ext cx="2095500" cy="1143000"/>
            <a:chOff x="3238500" y="2571750"/>
            <a:chExt cx="2095500" cy="1143000"/>
          </a:xfrm>
        </p:grpSpPr>
        <p:sp>
          <p:nvSpPr>
            <p:cNvPr id="302" name="Google Shape;302;p42"/>
            <p:cNvSpPr/>
            <p:nvPr/>
          </p:nvSpPr>
          <p:spPr>
            <a:xfrm>
              <a:off x="3238500" y="2571750"/>
              <a:ext cx="2095500" cy="1143000"/>
            </a:xfrm>
            <a:prstGeom prst="roundRect">
              <a:avLst>
                <a:gd fmla="val 10000" name="adj"/>
              </a:avLst>
            </a:prstGeom>
            <a:solidFill>
              <a:srgbClr val="EFF6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2"/>
            <p:cNvSpPr txBox="1"/>
            <p:nvPr/>
          </p:nvSpPr>
          <p:spPr>
            <a:xfrm>
              <a:off x="3238500" y="2571750"/>
              <a:ext cx="2095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b="0" sz="1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Nginx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Прием запросов / Статика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4" name="Google Shape;30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3133725"/>
            <a:ext cx="6669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42"/>
          <p:cNvGrpSpPr/>
          <p:nvPr/>
        </p:nvGrpSpPr>
        <p:grpSpPr>
          <a:xfrm>
            <a:off x="6096000" y="2571750"/>
            <a:ext cx="2095500" cy="1143000"/>
            <a:chOff x="6096000" y="2571750"/>
            <a:chExt cx="2095500" cy="1143000"/>
          </a:xfrm>
        </p:grpSpPr>
        <p:sp>
          <p:nvSpPr>
            <p:cNvPr id="306" name="Google Shape;306;p42"/>
            <p:cNvSpPr/>
            <p:nvPr/>
          </p:nvSpPr>
          <p:spPr>
            <a:xfrm>
              <a:off x="6096000" y="2571750"/>
              <a:ext cx="20955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2"/>
            <p:cNvSpPr txBox="1"/>
            <p:nvPr/>
          </p:nvSpPr>
          <p:spPr>
            <a:xfrm>
              <a:off x="6096000" y="2571750"/>
              <a:ext cx="2095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BACKEND</a:t>
              </a:r>
              <a:endParaRPr b="0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Apache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PHP / Python / Динамика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42"/>
          <p:cNvGrpSpPr/>
          <p:nvPr/>
        </p:nvGrpSpPr>
        <p:grpSpPr>
          <a:xfrm>
            <a:off x="381000" y="4286250"/>
            <a:ext cx="8382000" cy="476400"/>
            <a:chOff x="381000" y="4286250"/>
            <a:chExt cx="8382000" cy="476400"/>
          </a:xfrm>
        </p:grpSpPr>
        <p:sp>
          <p:nvSpPr>
            <p:cNvPr id="309" name="Google Shape;309;p42"/>
            <p:cNvSpPr/>
            <p:nvPr/>
          </p:nvSpPr>
          <p:spPr>
            <a:xfrm>
              <a:off x="381000" y="4286250"/>
              <a:ext cx="8382000" cy="4764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2"/>
            <p:cNvSpPr txBox="1"/>
            <p:nvPr/>
          </p:nvSpPr>
          <p:spPr>
            <a:xfrm>
              <a:off x="571500" y="428625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Иногда они даже работают вместе: Nginx стоит первым и принимает запросы, а Apache обслуживает часть приложения или динамику.</a:t>
              </a:r>
              <a:endParaRPr b="0"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Система управления базами данных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6" name="Google Shape;31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СУБД — это программа для хранения, поиска, изменения и удаления данных.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</a:rPr>
              <a:t>Примеры данных:</a:t>
            </a:r>
            <a:endParaRPr b="1"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ru" sz="1700">
                <a:solidFill>
                  <a:srgbClr val="000000"/>
                </a:solidFill>
              </a:rPr>
              <a:t>пользователи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ru" sz="1700">
                <a:solidFill>
                  <a:srgbClr val="000000"/>
                </a:solidFill>
              </a:rPr>
              <a:t>оценки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ru" sz="1700">
                <a:solidFill>
                  <a:srgbClr val="000000"/>
                </a:solidFill>
              </a:rPr>
              <a:t>заказы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ru" sz="1700">
                <a:solidFill>
                  <a:srgbClr val="000000"/>
                </a:solidFill>
              </a:rPr>
              <a:t>сообщения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ru" sz="1700">
                <a:solidFill>
                  <a:srgbClr val="000000"/>
                </a:solidFill>
              </a:rPr>
              <a:t>документы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43" title="pngegg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3250" y="1017725"/>
            <a:ext cx="5321366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Система управления базами данных</a:t>
            </a:r>
            <a:endParaRPr/>
          </a:p>
        </p:txBody>
      </p:sp>
      <p:sp>
        <p:nvSpPr>
          <p:cNvPr id="323" name="Google Shape;323;p44"/>
          <p:cNvSpPr txBox="1"/>
          <p:nvPr>
            <p:ph idx="1" type="body"/>
          </p:nvPr>
        </p:nvSpPr>
        <p:spPr>
          <a:xfrm>
            <a:off x="311700" y="1017725"/>
            <a:ext cx="455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00000"/>
                </a:solidFill>
              </a:rPr>
              <a:t>Например, в базе данных могут храниться: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ru">
                <a:solidFill>
                  <a:srgbClr val="000000"/>
                </a:solidFill>
              </a:rPr>
              <a:t>логины пользователей,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ru">
                <a:solidFill>
                  <a:srgbClr val="000000"/>
                </a:solidFill>
              </a:rPr>
              <a:t>списки товаров,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ru">
                <a:solidFill>
                  <a:srgbClr val="000000"/>
                </a:solidFill>
              </a:rPr>
              <a:t>оценки студентов,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ru">
                <a:solidFill>
                  <a:srgbClr val="000000"/>
                </a:solidFill>
              </a:rPr>
              <a:t>результаты тестов,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ru">
                <a:solidFill>
                  <a:srgbClr val="000000"/>
                </a:solidFill>
              </a:rPr>
              <a:t>заказы интернет-магазина.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24" name="Google Shape;324;p44" title="screensho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750" y="1152463"/>
            <a:ext cx="3971400" cy="2973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45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330" name="Google Shape;330;p45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5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500">
                  <a:solidFill>
                    <a:srgbClr val="F8FAFC"/>
                  </a:solidFill>
                </a:rPr>
                <a:t>pgAdmin</a:t>
              </a:r>
              <a:endParaRPr b="1" sz="2500">
                <a:solidFill>
                  <a:srgbClr val="F8FAFC"/>
                </a:solidFill>
              </a:endParaRPr>
            </a:p>
          </p:txBody>
        </p:sp>
      </p:grpSp>
      <p:grpSp>
        <p:nvGrpSpPr>
          <p:cNvPr id="332" name="Google Shape;332;p45"/>
          <p:cNvGrpSpPr/>
          <p:nvPr/>
        </p:nvGrpSpPr>
        <p:grpSpPr>
          <a:xfrm>
            <a:off x="381000" y="1047750"/>
            <a:ext cx="8382000" cy="952500"/>
            <a:chOff x="381000" y="1047750"/>
            <a:chExt cx="8382000" cy="952500"/>
          </a:xfrm>
        </p:grpSpPr>
        <p:sp>
          <p:nvSpPr>
            <p:cNvPr id="333" name="Google Shape;333;p45"/>
            <p:cNvSpPr/>
            <p:nvPr/>
          </p:nvSpPr>
          <p:spPr>
            <a:xfrm>
              <a:off x="381000" y="1047750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5"/>
            <p:cNvSpPr txBox="1"/>
            <p:nvPr/>
          </p:nvSpPr>
          <p:spPr>
            <a:xfrm>
              <a:off x="619125" y="1047750"/>
              <a:ext cx="7905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6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Графический инструмент для работы с </a:t>
              </a:r>
              <a:endParaRPr b="0" sz="16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Позволяет администраторам и разработчикам удобно работать с базой данных через интерфейс вместо консоли.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5" name="Google Shape;335;p45"/>
          <p:cNvSpPr txBox="1"/>
          <p:nvPr/>
        </p:nvSpPr>
        <p:spPr>
          <a:xfrm>
            <a:off x="381000" y="21907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Возможности инструмента:</a:t>
            </a:r>
            <a:endParaRPr b="1" sz="16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36" name="Google Shape;336;p45"/>
          <p:cNvGrpSpPr/>
          <p:nvPr/>
        </p:nvGrpSpPr>
        <p:grpSpPr>
          <a:xfrm>
            <a:off x="381000" y="2619375"/>
            <a:ext cx="2600400" cy="1238400"/>
            <a:chOff x="381000" y="2619375"/>
            <a:chExt cx="2600400" cy="1238400"/>
          </a:xfrm>
        </p:grpSpPr>
        <p:sp>
          <p:nvSpPr>
            <p:cNvPr id="337" name="Google Shape;337;p45"/>
            <p:cNvSpPr/>
            <p:nvPr/>
          </p:nvSpPr>
          <p:spPr>
            <a:xfrm>
              <a:off x="381000" y="2619375"/>
              <a:ext cx="26004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5"/>
            <p:cNvSpPr txBox="1"/>
            <p:nvPr/>
          </p:nvSpPr>
          <p:spPr>
            <a:xfrm>
              <a:off x="523875" y="3190875"/>
              <a:ext cx="23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Подключение к серверу и просмотр баз данных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39" name="Google Shape;339;p45"/>
          <p:cNvGrpSpPr/>
          <p:nvPr/>
        </p:nvGrpSpPr>
        <p:grpSpPr>
          <a:xfrm>
            <a:off x="3267075" y="2619375"/>
            <a:ext cx="2600400" cy="1238400"/>
            <a:chOff x="3267075" y="2619375"/>
            <a:chExt cx="2600400" cy="1238400"/>
          </a:xfrm>
        </p:grpSpPr>
        <p:sp>
          <p:nvSpPr>
            <p:cNvPr id="340" name="Google Shape;340;p45"/>
            <p:cNvSpPr/>
            <p:nvPr/>
          </p:nvSpPr>
          <p:spPr>
            <a:xfrm>
              <a:off x="3267075" y="2619375"/>
              <a:ext cx="26004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5"/>
            <p:cNvSpPr txBox="1"/>
            <p:nvPr/>
          </p:nvSpPr>
          <p:spPr>
            <a:xfrm>
              <a:off x="3409950" y="3190875"/>
              <a:ext cx="23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Работа с таблицами и SQL-запросами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42" name="Google Shape;342;p45"/>
          <p:cNvGrpSpPr/>
          <p:nvPr/>
        </p:nvGrpSpPr>
        <p:grpSpPr>
          <a:xfrm>
            <a:off x="6153000" y="2619375"/>
            <a:ext cx="2610000" cy="1238400"/>
            <a:chOff x="6153150" y="2619375"/>
            <a:chExt cx="2610000" cy="1238400"/>
          </a:xfrm>
        </p:grpSpPr>
        <p:sp>
          <p:nvSpPr>
            <p:cNvPr id="343" name="Google Shape;343;p45"/>
            <p:cNvSpPr/>
            <p:nvPr/>
          </p:nvSpPr>
          <p:spPr>
            <a:xfrm>
              <a:off x="6153150" y="2619375"/>
              <a:ext cx="26100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5"/>
            <p:cNvSpPr txBox="1"/>
            <p:nvPr/>
          </p:nvSpPr>
          <p:spPr>
            <a:xfrm>
              <a:off x="6296025" y="3190875"/>
              <a:ext cx="2324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Управление различными объектами базы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45" name="Google Shape;345;p45"/>
          <p:cNvGrpSpPr/>
          <p:nvPr/>
        </p:nvGrpSpPr>
        <p:grpSpPr>
          <a:xfrm>
            <a:off x="381000" y="4095750"/>
            <a:ext cx="8382000" cy="666900"/>
            <a:chOff x="381000" y="4095750"/>
            <a:chExt cx="8382000" cy="666900"/>
          </a:xfrm>
        </p:grpSpPr>
        <p:sp>
          <p:nvSpPr>
            <p:cNvPr id="346" name="Google Shape;346;p45"/>
            <p:cNvSpPr/>
            <p:nvPr/>
          </p:nvSpPr>
          <p:spPr>
            <a:xfrm>
              <a:off x="381000" y="4095750"/>
              <a:ext cx="8382000" cy="666900"/>
            </a:xfrm>
            <a:prstGeom prst="roundRect">
              <a:avLst>
                <a:gd fmla="val 11428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5"/>
            <p:cNvSpPr txBox="1"/>
            <p:nvPr/>
          </p:nvSpPr>
          <p:spPr>
            <a:xfrm>
              <a:off x="571500" y="409575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1D4E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💡 Особенно полезен новичкам: помогает наглядно увидеть и понять структуру базы данных.</a:t>
              </a:r>
              <a:endParaRPr b="0" sz="12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348" name="Google Shape;348;p45" title="0*maLmxN0EK9pqRqQ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150" y="1047750"/>
            <a:ext cx="1030575" cy="4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46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354" name="Google Shape;354;p4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6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500">
                  <a:solidFill>
                    <a:srgbClr val="F8FAFC"/>
                  </a:solidFill>
                </a:rPr>
                <a:t>phpMyAdmin</a:t>
              </a:r>
              <a:endParaRPr b="1" sz="2500">
                <a:solidFill>
                  <a:srgbClr val="F8FAFC"/>
                </a:solidFill>
              </a:endParaRPr>
            </a:p>
          </p:txBody>
        </p:sp>
      </p:grpSp>
      <p:grpSp>
        <p:nvGrpSpPr>
          <p:cNvPr id="356" name="Google Shape;356;p46"/>
          <p:cNvGrpSpPr/>
          <p:nvPr/>
        </p:nvGrpSpPr>
        <p:grpSpPr>
          <a:xfrm>
            <a:off x="381000" y="1047750"/>
            <a:ext cx="8382000" cy="952500"/>
            <a:chOff x="381000" y="1047750"/>
            <a:chExt cx="8382000" cy="952500"/>
          </a:xfrm>
        </p:grpSpPr>
        <p:sp>
          <p:nvSpPr>
            <p:cNvPr id="357" name="Google Shape;357;p46"/>
            <p:cNvSpPr/>
            <p:nvPr/>
          </p:nvSpPr>
          <p:spPr>
            <a:xfrm>
              <a:off x="381000" y="1047750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6"/>
            <p:cNvSpPr txBox="1"/>
            <p:nvPr/>
          </p:nvSpPr>
          <p:spPr>
            <a:xfrm>
              <a:off x="619125" y="1047750"/>
              <a:ext cx="7905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6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Веб-интерфейс для администрирования </a:t>
              </a:r>
              <a:endParaRPr b="0" sz="16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Позволяет управлять базой данных через понятный графический интерфейс прямо в браузере.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59" name="Google Shape;359;p46"/>
          <p:cNvSpPr txBox="1"/>
          <p:nvPr/>
        </p:nvSpPr>
        <p:spPr>
          <a:xfrm>
            <a:off x="381000" y="21907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Возможности интерфейса:</a:t>
            </a:r>
            <a:endParaRPr b="1" sz="16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60" name="Google Shape;360;p46"/>
          <p:cNvGrpSpPr/>
          <p:nvPr/>
        </p:nvGrpSpPr>
        <p:grpSpPr>
          <a:xfrm>
            <a:off x="381000" y="2619375"/>
            <a:ext cx="2600400" cy="1333500"/>
            <a:chOff x="381000" y="2619375"/>
            <a:chExt cx="2600400" cy="1333500"/>
          </a:xfrm>
        </p:grpSpPr>
        <p:sp>
          <p:nvSpPr>
            <p:cNvPr id="361" name="Google Shape;361;p46"/>
            <p:cNvSpPr/>
            <p:nvPr/>
          </p:nvSpPr>
          <p:spPr>
            <a:xfrm>
              <a:off x="381000" y="2619375"/>
              <a:ext cx="2600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6"/>
            <p:cNvSpPr txBox="1"/>
            <p:nvPr/>
          </p:nvSpPr>
          <p:spPr>
            <a:xfrm>
              <a:off x="523875" y="2797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add_box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3" name="Google Shape;363;p46"/>
            <p:cNvSpPr txBox="1"/>
            <p:nvPr/>
          </p:nvSpPr>
          <p:spPr>
            <a:xfrm>
              <a:off x="523875" y="3190875"/>
              <a:ext cx="23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Создание баз и таблиц, редактирование данных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64" name="Google Shape;364;p46"/>
          <p:cNvGrpSpPr/>
          <p:nvPr/>
        </p:nvGrpSpPr>
        <p:grpSpPr>
          <a:xfrm>
            <a:off x="3267075" y="2619375"/>
            <a:ext cx="2600400" cy="1333500"/>
            <a:chOff x="3267075" y="2619375"/>
            <a:chExt cx="2600400" cy="1333500"/>
          </a:xfrm>
        </p:grpSpPr>
        <p:sp>
          <p:nvSpPr>
            <p:cNvPr id="365" name="Google Shape;365;p46"/>
            <p:cNvSpPr/>
            <p:nvPr/>
          </p:nvSpPr>
          <p:spPr>
            <a:xfrm>
              <a:off x="3267075" y="2619375"/>
              <a:ext cx="2600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6"/>
            <p:cNvSpPr txBox="1"/>
            <p:nvPr/>
          </p:nvSpPr>
          <p:spPr>
            <a:xfrm>
              <a:off x="3409950" y="2797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7" name="Google Shape;367;p46"/>
            <p:cNvSpPr txBox="1"/>
            <p:nvPr/>
          </p:nvSpPr>
          <p:spPr>
            <a:xfrm>
              <a:off x="3409950" y="3190875"/>
              <a:ext cx="23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Запуск SQL-запросов и импорт/экспорт данных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68" name="Google Shape;368;p46"/>
          <p:cNvGrpSpPr/>
          <p:nvPr/>
        </p:nvGrpSpPr>
        <p:grpSpPr>
          <a:xfrm>
            <a:off x="6153150" y="2619375"/>
            <a:ext cx="2610000" cy="1333500"/>
            <a:chOff x="6153150" y="2619375"/>
            <a:chExt cx="2610000" cy="1333500"/>
          </a:xfrm>
        </p:grpSpPr>
        <p:sp>
          <p:nvSpPr>
            <p:cNvPr id="369" name="Google Shape;369;p46"/>
            <p:cNvSpPr/>
            <p:nvPr/>
          </p:nvSpPr>
          <p:spPr>
            <a:xfrm>
              <a:off x="6153150" y="2619375"/>
              <a:ext cx="2610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6"/>
            <p:cNvSpPr txBox="1"/>
            <p:nvPr/>
          </p:nvSpPr>
          <p:spPr>
            <a:xfrm>
              <a:off x="6296025" y="2797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manage_accounts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1" name="Google Shape;371;p46"/>
            <p:cNvSpPr txBox="1"/>
            <p:nvPr/>
          </p:nvSpPr>
          <p:spPr>
            <a:xfrm>
              <a:off x="6296025" y="3190875"/>
              <a:ext cx="2324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Управление пользователями и правами доступа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72" name="Google Shape;372;p46"/>
          <p:cNvGrpSpPr/>
          <p:nvPr/>
        </p:nvGrpSpPr>
        <p:grpSpPr>
          <a:xfrm>
            <a:off x="381000" y="4191000"/>
            <a:ext cx="8382000" cy="666900"/>
            <a:chOff x="381000" y="4191000"/>
            <a:chExt cx="8382000" cy="666900"/>
          </a:xfrm>
        </p:grpSpPr>
        <p:sp>
          <p:nvSpPr>
            <p:cNvPr id="373" name="Google Shape;373;p46"/>
            <p:cNvSpPr/>
            <p:nvPr/>
          </p:nvSpPr>
          <p:spPr>
            <a:xfrm>
              <a:off x="381000" y="4191000"/>
              <a:ext cx="8382000" cy="666900"/>
            </a:xfrm>
            <a:prstGeom prst="roundRect">
              <a:avLst>
                <a:gd fmla="val 11428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6"/>
            <p:cNvSpPr txBox="1"/>
            <p:nvPr/>
          </p:nvSpPr>
          <p:spPr>
            <a:xfrm>
              <a:off x="571500" y="419100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1D4E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💡 phpMyAdmin делает работу с MySQL доступной даже без глубоких знаний консольных команд.</a:t>
              </a:r>
              <a:endParaRPr b="0" sz="12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375" name="Google Shape;375;p46" title="mysql-v-mariadb-v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1400" y="879167"/>
            <a:ext cx="1731800" cy="633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4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381" name="Google Shape;381;p4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7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5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Резервное копирование</a:t>
              </a:r>
              <a:endParaRPr b="1" sz="25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3" name="Google Shape;38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047750"/>
            <a:ext cx="3619500" cy="3619500"/>
          </a:xfrm>
          <a:prstGeom prst="roundRect">
            <a:avLst>
              <a:gd fmla="val 3157" name="adj"/>
            </a:avLst>
          </a:prstGeom>
          <a:noFill/>
          <a:ln>
            <a:noFill/>
          </a:ln>
        </p:spPr>
      </p:pic>
      <p:grpSp>
        <p:nvGrpSpPr>
          <p:cNvPr id="384" name="Google Shape;384;p47"/>
          <p:cNvGrpSpPr/>
          <p:nvPr/>
        </p:nvGrpSpPr>
        <p:grpSpPr>
          <a:xfrm>
            <a:off x="381000" y="973763"/>
            <a:ext cx="4381500" cy="1407488"/>
            <a:chOff x="381000" y="973763"/>
            <a:chExt cx="4381500" cy="1407488"/>
          </a:xfrm>
        </p:grpSpPr>
        <p:sp>
          <p:nvSpPr>
            <p:cNvPr id="385" name="Google Shape;385;p47"/>
            <p:cNvSpPr/>
            <p:nvPr/>
          </p:nvSpPr>
          <p:spPr>
            <a:xfrm>
              <a:off x="381000" y="1047750"/>
              <a:ext cx="43815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7"/>
            <p:cNvSpPr txBox="1"/>
            <p:nvPr/>
          </p:nvSpPr>
          <p:spPr>
            <a:xfrm>
              <a:off x="619125" y="973763"/>
              <a:ext cx="3905400" cy="14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Это создание копии данных для их восстановления в случае удаления, сбоя, вируса или поломки оборудования.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7" name="Google Shape;387;p47"/>
          <p:cNvGrpSpPr/>
          <p:nvPr/>
        </p:nvGrpSpPr>
        <p:grpSpPr>
          <a:xfrm>
            <a:off x="381000" y="2571750"/>
            <a:ext cx="4381500" cy="2095500"/>
            <a:chOff x="381000" y="2571750"/>
            <a:chExt cx="4381500" cy="2095500"/>
          </a:xfrm>
        </p:grpSpPr>
        <p:sp>
          <p:nvSpPr>
            <p:cNvPr id="388" name="Google Shape;388;p47"/>
            <p:cNvSpPr/>
            <p:nvPr/>
          </p:nvSpPr>
          <p:spPr>
            <a:xfrm>
              <a:off x="381000" y="2571750"/>
              <a:ext cx="43815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7"/>
            <p:cNvSpPr txBox="1"/>
            <p:nvPr/>
          </p:nvSpPr>
          <p:spPr>
            <a:xfrm>
              <a:off x="619125" y="2571750"/>
              <a:ext cx="3905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Риски потери данных: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ru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Случайное удаление файлов или папок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ru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Выход диска из строя (поломка)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ru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Повреждение </a:t>
              </a:r>
              <a:r>
                <a:rPr lang="ru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файлов</a:t>
              </a:r>
              <a:r>
                <a:rPr b="0" lang="ru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вирусами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ru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Ошибки пользователя при работе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4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395" name="Google Shape;395;p4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8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5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Зачем нужны резервные копии</a:t>
              </a:r>
              <a:endParaRPr b="1" sz="25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48"/>
          <p:cNvGrpSpPr/>
          <p:nvPr/>
        </p:nvGrpSpPr>
        <p:grpSpPr>
          <a:xfrm>
            <a:off x="381000" y="1047750"/>
            <a:ext cx="8382000" cy="857400"/>
            <a:chOff x="381000" y="1047750"/>
            <a:chExt cx="8382000" cy="857400"/>
          </a:xfrm>
        </p:grpSpPr>
        <p:sp>
          <p:nvSpPr>
            <p:cNvPr id="398" name="Google Shape;398;p48"/>
            <p:cNvSpPr/>
            <p:nvPr/>
          </p:nvSpPr>
          <p:spPr>
            <a:xfrm>
              <a:off x="381000" y="1047750"/>
              <a:ext cx="8382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8"/>
            <p:cNvSpPr txBox="1"/>
            <p:nvPr/>
          </p:nvSpPr>
          <p:spPr>
            <a:xfrm>
              <a:off x="619125" y="1047750"/>
              <a:ext cx="7905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Резервная копия — это возможность восстановить данные и не начинать всё заново в критических ситуациях.</a:t>
              </a:r>
              <a:endParaRPr b="0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0" name="Google Shape;400;p48"/>
          <p:cNvGrpSpPr/>
          <p:nvPr/>
        </p:nvGrpSpPr>
        <p:grpSpPr>
          <a:xfrm>
            <a:off x="381000" y="2143125"/>
            <a:ext cx="8382075" cy="1428900"/>
            <a:chOff x="381000" y="2143125"/>
            <a:chExt cx="8382075" cy="1428900"/>
          </a:xfrm>
        </p:grpSpPr>
        <p:grpSp>
          <p:nvGrpSpPr>
            <p:cNvPr id="401" name="Google Shape;401;p48"/>
            <p:cNvGrpSpPr/>
            <p:nvPr/>
          </p:nvGrpSpPr>
          <p:grpSpPr>
            <a:xfrm>
              <a:off x="381000" y="2143125"/>
              <a:ext cx="1952700" cy="1428900"/>
              <a:chOff x="381000" y="2143125"/>
              <a:chExt cx="1952700" cy="1428900"/>
            </a:xfrm>
          </p:grpSpPr>
          <p:sp>
            <p:nvSpPr>
              <p:cNvPr id="402" name="Google Shape;402;p48"/>
              <p:cNvSpPr/>
              <p:nvPr/>
            </p:nvSpPr>
            <p:spPr>
              <a:xfrm>
                <a:off x="381000" y="2143125"/>
                <a:ext cx="19527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48"/>
              <p:cNvSpPr txBox="1"/>
              <p:nvPr/>
            </p:nvSpPr>
            <p:spPr>
              <a:xfrm>
                <a:off x="523875" y="232105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delet_forever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4" name="Google Shape;404;p48"/>
              <p:cNvSpPr txBox="1"/>
              <p:nvPr/>
            </p:nvSpPr>
            <p:spPr>
              <a:xfrm>
                <a:off x="523875" y="2714625"/>
                <a:ext cx="1666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12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 Случайное удаление</a:t>
                </a:r>
                <a:endParaRPr b="0" sz="12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05" name="Google Shape;405;p48"/>
            <p:cNvGrpSpPr/>
            <p:nvPr/>
          </p:nvGrpSpPr>
          <p:grpSpPr>
            <a:xfrm>
              <a:off x="2524125" y="2143125"/>
              <a:ext cx="1952700" cy="1428900"/>
              <a:chOff x="2524125" y="2143125"/>
              <a:chExt cx="1952700" cy="1428900"/>
            </a:xfrm>
          </p:grpSpPr>
          <p:sp>
            <p:nvSpPr>
              <p:cNvPr id="406" name="Google Shape;406;p48"/>
              <p:cNvSpPr/>
              <p:nvPr/>
            </p:nvSpPr>
            <p:spPr>
              <a:xfrm>
                <a:off x="2524125" y="2143125"/>
                <a:ext cx="19527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48"/>
              <p:cNvSpPr txBox="1"/>
              <p:nvPr/>
            </p:nvSpPr>
            <p:spPr>
              <a:xfrm>
                <a:off x="2667000" y="2321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build_circle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8" name="Google Shape;408;p48"/>
              <p:cNvSpPr txBox="1"/>
              <p:nvPr/>
            </p:nvSpPr>
            <p:spPr>
              <a:xfrm>
                <a:off x="2667000" y="2714625"/>
                <a:ext cx="1666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12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 Поломка оборудования</a:t>
                </a:r>
                <a:endParaRPr b="0" sz="12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09" name="Google Shape;409;p48"/>
            <p:cNvGrpSpPr/>
            <p:nvPr/>
          </p:nvGrpSpPr>
          <p:grpSpPr>
            <a:xfrm>
              <a:off x="4667250" y="2143125"/>
              <a:ext cx="1952700" cy="1428900"/>
              <a:chOff x="4667250" y="2143125"/>
              <a:chExt cx="1952700" cy="1428900"/>
            </a:xfrm>
          </p:grpSpPr>
          <p:sp>
            <p:nvSpPr>
              <p:cNvPr id="410" name="Google Shape;410;p48"/>
              <p:cNvSpPr/>
              <p:nvPr/>
            </p:nvSpPr>
            <p:spPr>
              <a:xfrm>
                <a:off x="4667250" y="2143125"/>
                <a:ext cx="19527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48"/>
              <p:cNvSpPr txBox="1"/>
              <p:nvPr/>
            </p:nvSpPr>
            <p:spPr>
              <a:xfrm>
                <a:off x="4810125" y="2321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bug_report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2" name="Google Shape;412;p48"/>
              <p:cNvSpPr txBox="1"/>
              <p:nvPr/>
            </p:nvSpPr>
            <p:spPr>
              <a:xfrm>
                <a:off x="4810125" y="2714625"/>
                <a:ext cx="1666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12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 Вирусы</a:t>
                </a:r>
                <a:endParaRPr b="0" sz="12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13" name="Google Shape;413;p48"/>
            <p:cNvGrpSpPr/>
            <p:nvPr/>
          </p:nvGrpSpPr>
          <p:grpSpPr>
            <a:xfrm>
              <a:off x="6810375" y="2143125"/>
              <a:ext cx="1952700" cy="1428900"/>
              <a:chOff x="6810375" y="2143125"/>
              <a:chExt cx="1952700" cy="1428900"/>
            </a:xfrm>
          </p:grpSpPr>
          <p:sp>
            <p:nvSpPr>
              <p:cNvPr id="414" name="Google Shape;414;p48"/>
              <p:cNvSpPr/>
              <p:nvPr/>
            </p:nvSpPr>
            <p:spPr>
              <a:xfrm>
                <a:off x="6810375" y="2143125"/>
                <a:ext cx="19527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48"/>
              <p:cNvSpPr txBox="1"/>
              <p:nvPr/>
            </p:nvSpPr>
            <p:spPr>
              <a:xfrm>
                <a:off x="6953250" y="2321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settings_suggest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6" name="Google Shape;416;p48"/>
              <p:cNvSpPr txBox="1"/>
              <p:nvPr/>
            </p:nvSpPr>
            <p:spPr>
              <a:xfrm>
                <a:off x="6953250" y="2714625"/>
                <a:ext cx="1666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12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4. Ошибки в настройке системы</a:t>
                </a:r>
                <a:endParaRPr b="0" sz="12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17" name="Google Shape;417;p48"/>
          <p:cNvGrpSpPr/>
          <p:nvPr/>
        </p:nvGrpSpPr>
        <p:grpSpPr>
          <a:xfrm>
            <a:off x="381000" y="3810000"/>
            <a:ext cx="8382000" cy="952500"/>
            <a:chOff x="381000" y="3810000"/>
            <a:chExt cx="8382000" cy="952500"/>
          </a:xfrm>
        </p:grpSpPr>
        <p:sp>
          <p:nvSpPr>
            <p:cNvPr id="418" name="Google Shape;418;p48"/>
            <p:cNvSpPr/>
            <p:nvPr/>
          </p:nvSpPr>
          <p:spPr>
            <a:xfrm>
              <a:off x="381000" y="3810000"/>
              <a:ext cx="8382000" cy="9525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8"/>
            <p:cNvSpPr txBox="1"/>
            <p:nvPr/>
          </p:nvSpPr>
          <p:spPr>
            <a:xfrm>
              <a:off x="619125" y="3810000"/>
              <a:ext cx="7905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300">
                  <a:solidFill>
                    <a:srgbClr val="1D4E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💡 Администратор должен думать не только о текущей работе системы, но и о том, как её восстановить, если что-то пойдёт не так.</a:t>
              </a:r>
              <a:endParaRPr b="0" sz="13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9"/>
          <p:cNvSpPr txBox="1"/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Bacula</a:t>
            </a:r>
            <a:endParaRPr b="1" sz="2500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49"/>
          <p:cNvGrpSpPr/>
          <p:nvPr/>
        </p:nvGrpSpPr>
        <p:grpSpPr>
          <a:xfrm>
            <a:off x="381000" y="1000125"/>
            <a:ext cx="8382000" cy="1047900"/>
            <a:chOff x="381000" y="1000125"/>
            <a:chExt cx="8382000" cy="1047900"/>
          </a:xfrm>
        </p:grpSpPr>
        <p:sp>
          <p:nvSpPr>
            <p:cNvPr id="427" name="Google Shape;427;p49"/>
            <p:cNvSpPr/>
            <p:nvPr/>
          </p:nvSpPr>
          <p:spPr>
            <a:xfrm>
              <a:off x="381000" y="1000125"/>
              <a:ext cx="8382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9"/>
            <p:cNvSpPr txBox="1"/>
            <p:nvPr/>
          </p:nvSpPr>
          <p:spPr>
            <a:xfrm>
              <a:off x="619125" y="1000125"/>
              <a:ext cx="7905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Система резервного копирования, которая помогает организовать сохранение и восстановление данных на одном или нескольких серверах.</a:t>
              </a:r>
              <a:endParaRPr b="0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Например, если в организации есть несколько серверов, несколько компьютеров или разные хранилища, Bacula помогает управлять всем этим из одной системы.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29" name="Google Shape;429;p49"/>
          <p:cNvSpPr txBox="1"/>
          <p:nvPr/>
        </p:nvSpPr>
        <p:spPr>
          <a:xfrm>
            <a:off x="381000" y="223837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Она может:</a:t>
            </a:r>
            <a:endParaRPr b="1" sz="18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30" name="Google Shape;430;p49"/>
          <p:cNvGrpSpPr/>
          <p:nvPr/>
        </p:nvGrpSpPr>
        <p:grpSpPr>
          <a:xfrm>
            <a:off x="381000" y="2714625"/>
            <a:ext cx="1952700" cy="1428900"/>
            <a:chOff x="381000" y="2714625"/>
            <a:chExt cx="1952700" cy="1428900"/>
          </a:xfrm>
        </p:grpSpPr>
        <p:sp>
          <p:nvSpPr>
            <p:cNvPr id="431" name="Google Shape;431;p49"/>
            <p:cNvSpPr/>
            <p:nvPr/>
          </p:nvSpPr>
          <p:spPr>
            <a:xfrm>
              <a:off x="381000" y="2714625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9"/>
            <p:cNvSpPr txBox="1"/>
            <p:nvPr/>
          </p:nvSpPr>
          <p:spPr>
            <a:xfrm>
              <a:off x="523875" y="2892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3" name="Google Shape;433;p49"/>
            <p:cNvSpPr txBox="1"/>
            <p:nvPr/>
          </p:nvSpPr>
          <p:spPr>
            <a:xfrm>
              <a:off x="523875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Делать копии по расписанию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34" name="Google Shape;434;p49"/>
          <p:cNvGrpSpPr/>
          <p:nvPr/>
        </p:nvGrpSpPr>
        <p:grpSpPr>
          <a:xfrm>
            <a:off x="2524125" y="2714625"/>
            <a:ext cx="1952700" cy="1428900"/>
            <a:chOff x="2524125" y="2714625"/>
            <a:chExt cx="1952700" cy="1428900"/>
          </a:xfrm>
        </p:grpSpPr>
        <p:sp>
          <p:nvSpPr>
            <p:cNvPr id="435" name="Google Shape;435;p49"/>
            <p:cNvSpPr/>
            <p:nvPr/>
          </p:nvSpPr>
          <p:spPr>
            <a:xfrm>
              <a:off x="2524125" y="2714625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9"/>
            <p:cNvSpPr txBox="1"/>
            <p:nvPr/>
          </p:nvSpPr>
          <p:spPr>
            <a:xfrm>
              <a:off x="2667000" y="2892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7" name="Google Shape;437;p49"/>
            <p:cNvSpPr txBox="1"/>
            <p:nvPr/>
          </p:nvSpPr>
          <p:spPr>
            <a:xfrm>
              <a:off x="2667000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Хранить информацию о резервных заданиях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38" name="Google Shape;438;p49"/>
          <p:cNvGrpSpPr/>
          <p:nvPr/>
        </p:nvGrpSpPr>
        <p:grpSpPr>
          <a:xfrm>
            <a:off x="4667250" y="2714625"/>
            <a:ext cx="1952700" cy="1428900"/>
            <a:chOff x="4667250" y="2714625"/>
            <a:chExt cx="1952700" cy="1428900"/>
          </a:xfrm>
        </p:grpSpPr>
        <p:sp>
          <p:nvSpPr>
            <p:cNvPr id="439" name="Google Shape;439;p49"/>
            <p:cNvSpPr/>
            <p:nvPr/>
          </p:nvSpPr>
          <p:spPr>
            <a:xfrm>
              <a:off x="4667250" y="2714625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9"/>
            <p:cNvSpPr txBox="1"/>
            <p:nvPr/>
          </p:nvSpPr>
          <p:spPr>
            <a:xfrm>
              <a:off x="4810125" y="2892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settings_backup_restore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1" name="Google Shape;441;p49"/>
            <p:cNvSpPr txBox="1"/>
            <p:nvPr/>
          </p:nvSpPr>
          <p:spPr>
            <a:xfrm>
              <a:off x="4810125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Помогать восстанавливать данные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42" name="Google Shape;442;p49"/>
          <p:cNvGrpSpPr/>
          <p:nvPr/>
        </p:nvGrpSpPr>
        <p:grpSpPr>
          <a:xfrm>
            <a:off x="6810375" y="2714625"/>
            <a:ext cx="1952700" cy="1428900"/>
            <a:chOff x="6810375" y="2714625"/>
            <a:chExt cx="1952700" cy="1428900"/>
          </a:xfrm>
        </p:grpSpPr>
        <p:sp>
          <p:nvSpPr>
            <p:cNvPr id="443" name="Google Shape;443;p49"/>
            <p:cNvSpPr/>
            <p:nvPr/>
          </p:nvSpPr>
          <p:spPr>
            <a:xfrm>
              <a:off x="6810375" y="2714625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9"/>
            <p:cNvSpPr txBox="1"/>
            <p:nvPr/>
          </p:nvSpPr>
          <p:spPr>
            <a:xfrm>
              <a:off x="6953250" y="2892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5" name="Google Shape;445;p49"/>
            <p:cNvSpPr txBox="1"/>
            <p:nvPr/>
          </p:nvSpPr>
          <p:spPr>
            <a:xfrm>
              <a:off x="6953250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Работать сразу с несколькими машинами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46" name="Google Shape;446;p49"/>
          <p:cNvGrpSpPr/>
          <p:nvPr/>
        </p:nvGrpSpPr>
        <p:grpSpPr>
          <a:xfrm>
            <a:off x="381000" y="4333875"/>
            <a:ext cx="8382000" cy="571500"/>
            <a:chOff x="381000" y="4333875"/>
            <a:chExt cx="8382000" cy="571500"/>
          </a:xfrm>
        </p:grpSpPr>
        <p:sp>
          <p:nvSpPr>
            <p:cNvPr id="447" name="Google Shape;447;p49"/>
            <p:cNvSpPr/>
            <p:nvPr/>
          </p:nvSpPr>
          <p:spPr>
            <a:xfrm>
              <a:off x="381000" y="4333875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9"/>
            <p:cNvSpPr txBox="1"/>
            <p:nvPr/>
          </p:nvSpPr>
          <p:spPr>
            <a:xfrm>
              <a:off x="619125" y="4333875"/>
              <a:ext cx="790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1D4E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💡 Bacula — это мощное решение для централизованного управления резервным копированием в сложных сетях.</a:t>
              </a:r>
              <a:endParaRPr b="0" sz="12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Архитектура Bacula&#10; * Текст: Director (управление), Storage Daemon (хранение), File Daemon (агент на сервере).&#10; * Визуал: Схема взаимодействия трех компонентов.&#10;" id="453" name="Google Shape;45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1"/>
          <p:cNvSpPr txBox="1"/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rsync</a:t>
            </a:r>
            <a:endParaRPr b="1" sz="2500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0" name="Google Shape;460;p51"/>
          <p:cNvGrpSpPr/>
          <p:nvPr/>
        </p:nvGrpSpPr>
        <p:grpSpPr>
          <a:xfrm>
            <a:off x="381000" y="1000125"/>
            <a:ext cx="8382000" cy="1143000"/>
            <a:chOff x="381000" y="1000125"/>
            <a:chExt cx="8382000" cy="1143000"/>
          </a:xfrm>
        </p:grpSpPr>
        <p:sp>
          <p:nvSpPr>
            <p:cNvPr id="461" name="Google Shape;461;p51"/>
            <p:cNvSpPr/>
            <p:nvPr/>
          </p:nvSpPr>
          <p:spPr>
            <a:xfrm>
              <a:off x="381000" y="1000125"/>
              <a:ext cx="8382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1"/>
            <p:cNvSpPr txBox="1"/>
            <p:nvPr/>
          </p:nvSpPr>
          <p:spPr>
            <a:xfrm>
              <a:off x="619125" y="1000125"/>
              <a:ext cx="7905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Это утилита для копирования и синхронизации файлов и каталогов.</a:t>
              </a:r>
              <a:endParaRPr b="0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Например, если изменился только один документ в большой папке, rsync передаст только это изменение, экономя время и ресурсы.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63" name="Google Shape;463;p51"/>
          <p:cNvSpPr txBox="1"/>
          <p:nvPr/>
        </p:nvSpPr>
        <p:spPr>
          <a:xfrm>
            <a:off x="381000" y="22860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rsync часто используют для:</a:t>
            </a:r>
            <a:endParaRPr b="1" sz="18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64" name="Google Shape;464;p51"/>
          <p:cNvGrpSpPr/>
          <p:nvPr/>
        </p:nvGrpSpPr>
        <p:grpSpPr>
          <a:xfrm>
            <a:off x="381000" y="2762250"/>
            <a:ext cx="1952700" cy="1428900"/>
            <a:chOff x="381000" y="2762250"/>
            <a:chExt cx="1952700" cy="1428900"/>
          </a:xfrm>
        </p:grpSpPr>
        <p:sp>
          <p:nvSpPr>
            <p:cNvPr id="465" name="Google Shape;465;p51"/>
            <p:cNvSpPr/>
            <p:nvPr/>
          </p:nvSpPr>
          <p:spPr>
            <a:xfrm>
              <a:off x="381000" y="2762250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1"/>
            <p:cNvSpPr txBox="1"/>
            <p:nvPr/>
          </p:nvSpPr>
          <p:spPr>
            <a:xfrm>
              <a:off x="523875" y="2940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backup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7" name="Google Shape;467;p51"/>
            <p:cNvSpPr txBox="1"/>
            <p:nvPr/>
          </p:nvSpPr>
          <p:spPr>
            <a:xfrm>
              <a:off x="523875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Резервных копий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68" name="Google Shape;468;p51"/>
          <p:cNvGrpSpPr/>
          <p:nvPr/>
        </p:nvGrpSpPr>
        <p:grpSpPr>
          <a:xfrm>
            <a:off x="2524125" y="2762250"/>
            <a:ext cx="1952700" cy="1428900"/>
            <a:chOff x="2524125" y="2762250"/>
            <a:chExt cx="1952700" cy="1428900"/>
          </a:xfrm>
        </p:grpSpPr>
        <p:sp>
          <p:nvSpPr>
            <p:cNvPr id="469" name="Google Shape;469;p51"/>
            <p:cNvSpPr/>
            <p:nvPr/>
          </p:nvSpPr>
          <p:spPr>
            <a:xfrm>
              <a:off x="2524125" y="2762250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1"/>
            <p:cNvSpPr txBox="1"/>
            <p:nvPr/>
          </p:nvSpPr>
          <p:spPr>
            <a:xfrm>
              <a:off x="2667000" y="2940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1" name="Google Shape;471;p51"/>
            <p:cNvSpPr txBox="1"/>
            <p:nvPr/>
          </p:nvSpPr>
          <p:spPr>
            <a:xfrm>
              <a:off x="2667000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Синхронизации папок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72" name="Google Shape;472;p51"/>
          <p:cNvGrpSpPr/>
          <p:nvPr/>
        </p:nvGrpSpPr>
        <p:grpSpPr>
          <a:xfrm>
            <a:off x="4667250" y="2762250"/>
            <a:ext cx="1952700" cy="1428900"/>
            <a:chOff x="4667250" y="2762250"/>
            <a:chExt cx="1952700" cy="1428900"/>
          </a:xfrm>
        </p:grpSpPr>
        <p:sp>
          <p:nvSpPr>
            <p:cNvPr id="473" name="Google Shape;473;p51"/>
            <p:cNvSpPr/>
            <p:nvPr/>
          </p:nvSpPr>
          <p:spPr>
            <a:xfrm>
              <a:off x="4667250" y="2762250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1"/>
            <p:cNvSpPr txBox="1"/>
            <p:nvPr/>
          </p:nvSpPr>
          <p:spPr>
            <a:xfrm>
              <a:off x="4810125" y="2940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5" name="Google Shape;475;p51"/>
            <p:cNvSpPr txBox="1"/>
            <p:nvPr/>
          </p:nvSpPr>
          <p:spPr>
            <a:xfrm>
              <a:off x="4810125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Копирования между серверами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76" name="Google Shape;476;p51"/>
          <p:cNvGrpSpPr/>
          <p:nvPr/>
        </p:nvGrpSpPr>
        <p:grpSpPr>
          <a:xfrm>
            <a:off x="6810375" y="2762250"/>
            <a:ext cx="1952700" cy="1428900"/>
            <a:chOff x="6810375" y="2762250"/>
            <a:chExt cx="1952700" cy="1428900"/>
          </a:xfrm>
        </p:grpSpPr>
        <p:sp>
          <p:nvSpPr>
            <p:cNvPr id="477" name="Google Shape;477;p51"/>
            <p:cNvSpPr/>
            <p:nvPr/>
          </p:nvSpPr>
          <p:spPr>
            <a:xfrm>
              <a:off x="6810375" y="2762250"/>
              <a:ext cx="1952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1"/>
            <p:cNvSpPr txBox="1"/>
            <p:nvPr/>
          </p:nvSpPr>
          <p:spPr>
            <a:xfrm>
              <a:off x="6953250" y="2940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9" name="Google Shape;479;p51"/>
            <p:cNvSpPr txBox="1"/>
            <p:nvPr/>
          </p:nvSpPr>
          <p:spPr>
            <a:xfrm>
              <a:off x="6953250" y="33337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Обновления каталогов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80" name="Google Shape;480;p51"/>
          <p:cNvGrpSpPr/>
          <p:nvPr/>
        </p:nvGrpSpPr>
        <p:grpSpPr>
          <a:xfrm>
            <a:off x="381000" y="4381500"/>
            <a:ext cx="8382000" cy="571500"/>
            <a:chOff x="381000" y="4381500"/>
            <a:chExt cx="8382000" cy="571500"/>
          </a:xfrm>
        </p:grpSpPr>
        <p:sp>
          <p:nvSpPr>
            <p:cNvPr id="481" name="Google Shape;481;p51"/>
            <p:cNvSpPr/>
            <p:nvPr/>
          </p:nvSpPr>
          <p:spPr>
            <a:xfrm>
              <a:off x="381000" y="438150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1"/>
            <p:cNvSpPr txBox="1"/>
            <p:nvPr/>
          </p:nvSpPr>
          <p:spPr>
            <a:xfrm>
              <a:off x="619125" y="4381500"/>
              <a:ext cx="790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1D4E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💡 rsync — эффективный инструмент для минимизации сетевого трафика при синхронизации данных.</a:t>
              </a:r>
              <a:endParaRPr b="0" sz="12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Визуал: Схема: Исходная папка -&gt; rsync (только изменения) -&gt; Резервная папка.&#10;" id="487" name="Google Shape;48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650" y="9525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Пользователи и права доступа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93" name="Google Shape;493;p53"/>
          <p:cNvSpPr txBox="1"/>
          <p:nvPr>
            <p:ph idx="1" type="body"/>
          </p:nvPr>
        </p:nvSpPr>
        <p:spPr>
          <a:xfrm>
            <a:off x="311700" y="1081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В любой системе есть пользователи.</a:t>
            </a:r>
            <a:br>
              <a:rPr lang="ru" sz="1400">
                <a:solidFill>
                  <a:srgbClr val="000000"/>
                </a:solidFill>
              </a:rPr>
            </a:br>
            <a:r>
              <a:rPr lang="ru" sz="1400">
                <a:solidFill>
                  <a:srgbClr val="000000"/>
                </a:solidFill>
              </a:rPr>
              <a:t>Например, студент, преподаватель, администратор. Но всем им не нужен одинаковый доступ.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494" name="Google Shape;494;p53"/>
          <p:cNvGraphicFramePr/>
          <p:nvPr/>
        </p:nvGraphicFramePr>
        <p:xfrm>
          <a:off x="1020175" y="189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{9231DD4A-00E7-49F3-BD3E-B96F6FB43EC1}</a:tableStyleId>
              </a:tblPr>
              <a:tblGrid>
                <a:gridCol w="2316325"/>
                <a:gridCol w="2316325"/>
                <a:gridCol w="2316325"/>
              </a:tblGrid>
              <a:tr h="19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</a:rPr>
                        <a:t>Студент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</a:rPr>
                        <a:t>Преподаватель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</a:rPr>
                        <a:t>Администратор 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75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смотрит материалы, выполняет задания и отправляет ответы.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нужно больше прав: может добавлять материалы, проверять работы, ставить оценки.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имеет ещё больше прав: создаёт аккаунты, меняет настройки и управляет системой.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5" name="Google Shape;495;p53"/>
          <p:cNvSpPr txBox="1"/>
          <p:nvPr/>
        </p:nvSpPr>
        <p:spPr>
          <a:xfrm>
            <a:off x="386750" y="3992975"/>
            <a:ext cx="859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</a:rPr>
              <a:t>Права доступа</a:t>
            </a:r>
            <a:r>
              <a:rPr lang="ru" sz="1100">
                <a:solidFill>
                  <a:schemeClr val="dk1"/>
                </a:solidFill>
              </a:rPr>
              <a:t> — это </a:t>
            </a:r>
            <a:r>
              <a:rPr b="1" lang="ru" sz="1100">
                <a:solidFill>
                  <a:schemeClr val="dk1"/>
                </a:solidFill>
              </a:rPr>
              <a:t>что именно можно делать пользователю в системе</a:t>
            </a:r>
            <a:r>
              <a:rPr lang="ru" sz="1100">
                <a:solidFill>
                  <a:schemeClr val="dk1"/>
                </a:solidFill>
              </a:rPr>
              <a:t>.</a:t>
            </a:r>
            <a:br>
              <a:rPr lang="ru" sz="1100">
                <a:solidFill>
                  <a:schemeClr val="dk1"/>
                </a:solidFill>
              </a:rPr>
            </a:br>
            <a:r>
              <a:rPr lang="ru" sz="1100">
                <a:solidFill>
                  <a:schemeClr val="dk1"/>
                </a:solidFill>
              </a:rPr>
              <a:t>Если всем дать полный доступ, кто-то может случайно или специально удалить важные данные.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54"/>
          <p:cNvGrpSpPr/>
          <p:nvPr/>
        </p:nvGrpSpPr>
        <p:grpSpPr>
          <a:xfrm>
            <a:off x="381000" y="285750"/>
            <a:ext cx="8382000" cy="571500"/>
            <a:chOff x="381000" y="285750"/>
            <a:chExt cx="8382000" cy="571500"/>
          </a:xfrm>
        </p:grpSpPr>
        <p:sp>
          <p:nvSpPr>
            <p:cNvPr id="501" name="Google Shape;501;p54"/>
            <p:cNvSpPr/>
            <p:nvPr/>
          </p:nvSpPr>
          <p:spPr>
            <a:xfrm>
              <a:off x="381000" y="28575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54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RBAC: Role-Based Access Control</a:t>
              </a:r>
              <a:endPara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54"/>
          <p:cNvSpPr txBox="1"/>
          <p:nvPr/>
        </p:nvSpPr>
        <p:spPr>
          <a:xfrm>
            <a:off x="381000" y="1047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Это ролевая модель доступа. Смысл очень простой: права назначают не каждому человеку по одному, а через роли.</a:t>
            </a:r>
            <a:endParaRPr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54"/>
          <p:cNvGrpSpPr/>
          <p:nvPr/>
        </p:nvGrpSpPr>
        <p:grpSpPr>
          <a:xfrm>
            <a:off x="381000" y="1714500"/>
            <a:ext cx="8382000" cy="1714500"/>
            <a:chOff x="381000" y="1714500"/>
            <a:chExt cx="8382000" cy="1714500"/>
          </a:xfrm>
        </p:grpSpPr>
        <p:sp>
          <p:nvSpPr>
            <p:cNvPr id="505" name="Google Shape;505;p54"/>
            <p:cNvSpPr/>
            <p:nvPr/>
          </p:nvSpPr>
          <p:spPr>
            <a:xfrm>
              <a:off x="381000" y="171450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4"/>
            <p:cNvSpPr txBox="1"/>
            <p:nvPr/>
          </p:nvSpPr>
          <p:spPr>
            <a:xfrm>
              <a:off x="476250" y="1844802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07" name="Google Shape;507;p54"/>
            <p:cNvSpPr txBox="1"/>
            <p:nvPr/>
          </p:nvSpPr>
          <p:spPr>
            <a:xfrm>
              <a:off x="476250" y="2238375"/>
              <a:ext cx="247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Студент</a:t>
              </a:r>
              <a:endParaRPr b="1" sz="14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Смотреть материалы, сдавать задания.</a:t>
              </a:r>
              <a:endPara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4"/>
            <p:cNvSpPr/>
            <p:nvPr/>
          </p:nvSpPr>
          <p:spPr>
            <a:xfrm>
              <a:off x="3238500" y="171450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4"/>
            <p:cNvSpPr txBox="1"/>
            <p:nvPr/>
          </p:nvSpPr>
          <p:spPr>
            <a:xfrm>
              <a:off x="3333750" y="1844802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0" name="Google Shape;510;p54"/>
            <p:cNvSpPr txBox="1"/>
            <p:nvPr/>
          </p:nvSpPr>
          <p:spPr>
            <a:xfrm>
              <a:off x="3333750" y="2238375"/>
              <a:ext cx="247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Преподаватель</a:t>
              </a:r>
              <a:endParaRPr b="1" sz="1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Добавлять задания, проверять работы, ставить оценки.</a:t>
              </a:r>
              <a:endPara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4"/>
            <p:cNvSpPr/>
            <p:nvPr/>
          </p:nvSpPr>
          <p:spPr>
            <a:xfrm>
              <a:off x="6096000" y="171450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54"/>
            <p:cNvSpPr txBox="1"/>
            <p:nvPr/>
          </p:nvSpPr>
          <p:spPr>
            <a:xfrm>
              <a:off x="6191250" y="1844802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3" name="Google Shape;513;p54"/>
            <p:cNvSpPr txBox="1"/>
            <p:nvPr/>
          </p:nvSpPr>
          <p:spPr>
            <a:xfrm>
              <a:off x="6191250" y="2238375"/>
              <a:ext cx="247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Администратор</a:t>
              </a:r>
              <a:endParaRPr b="1" sz="14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Самые широкие права: управлять всей системой.</a:t>
              </a:r>
              <a:endPara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54"/>
          <p:cNvGrpSpPr/>
          <p:nvPr/>
        </p:nvGrpSpPr>
        <p:grpSpPr>
          <a:xfrm>
            <a:off x="381000" y="3619500"/>
            <a:ext cx="8382000" cy="571500"/>
            <a:chOff x="381000" y="3619500"/>
            <a:chExt cx="8382000" cy="571500"/>
          </a:xfrm>
        </p:grpSpPr>
        <p:sp>
          <p:nvSpPr>
            <p:cNvPr id="515" name="Google Shape;515;p54"/>
            <p:cNvSpPr/>
            <p:nvPr/>
          </p:nvSpPr>
          <p:spPr>
            <a:xfrm>
              <a:off x="381000" y="361950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54"/>
            <p:cNvSpPr txBox="1"/>
            <p:nvPr/>
          </p:nvSpPr>
          <p:spPr>
            <a:xfrm>
              <a:off x="476250" y="3619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Схема:</a:t>
              </a:r>
              <a:r>
                <a:rPr lang="ru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Создание роли → Выдача прав роли → Назначение пользователя на роль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p54"/>
          <p:cNvGrpSpPr/>
          <p:nvPr/>
        </p:nvGrpSpPr>
        <p:grpSpPr>
          <a:xfrm>
            <a:off x="381000" y="4333875"/>
            <a:ext cx="8382150" cy="619200"/>
            <a:chOff x="381000" y="4333875"/>
            <a:chExt cx="8382150" cy="619200"/>
          </a:xfrm>
        </p:grpSpPr>
        <p:sp>
          <p:nvSpPr>
            <p:cNvPr id="518" name="Google Shape;518;p54"/>
            <p:cNvSpPr/>
            <p:nvPr/>
          </p:nvSpPr>
          <p:spPr>
            <a:xfrm>
              <a:off x="381000" y="4333875"/>
              <a:ext cx="4095900" cy="619200"/>
            </a:xfrm>
            <a:prstGeom prst="roundRect">
              <a:avLst>
                <a:gd fmla="val 12307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4"/>
            <p:cNvSpPr txBox="1"/>
            <p:nvPr/>
          </p:nvSpPr>
          <p:spPr>
            <a:xfrm>
              <a:off x="523875" y="4333875"/>
              <a:ext cx="3810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Удобство:</a:t>
              </a:r>
              <a:r>
                <a:rPr lang="ru" sz="1000">
                  <a:solidFill>
                    <a:srgbClr val="0369A1"/>
                  </a:solidFill>
                  <a:latin typeface="Arial"/>
                  <a:ea typeface="Arial"/>
                  <a:cs typeface="Arial"/>
                  <a:sym typeface="Arial"/>
                </a:rPr>
                <a:t> не нужно настраивать доступ каждому вручную.</a:t>
              </a:r>
              <a:endParaRPr sz="10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4"/>
            <p:cNvSpPr/>
            <p:nvPr/>
          </p:nvSpPr>
          <p:spPr>
            <a:xfrm>
              <a:off x="4667250" y="4333875"/>
              <a:ext cx="4095900" cy="619200"/>
            </a:xfrm>
            <a:prstGeom prst="roundRect">
              <a:avLst>
                <a:gd fmla="val 12307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4"/>
            <p:cNvSpPr txBox="1"/>
            <p:nvPr/>
          </p:nvSpPr>
          <p:spPr>
            <a:xfrm>
              <a:off x="4810125" y="4333875"/>
              <a:ext cx="3810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0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Безопасность:</a:t>
              </a:r>
              <a:r>
                <a:rPr lang="ru" sz="1000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 каждый имеет доступ только к тому, что нужно.</a:t>
              </a:r>
              <a:endParaRPr sz="100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55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527" name="Google Shape;527;p55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55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Короткие выводы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p55"/>
          <p:cNvGrpSpPr/>
          <p:nvPr/>
        </p:nvGrpSpPr>
        <p:grpSpPr>
          <a:xfrm>
            <a:off x="381000" y="1047750"/>
            <a:ext cx="4095900" cy="1428900"/>
            <a:chOff x="381000" y="1047750"/>
            <a:chExt cx="4095900" cy="1428900"/>
          </a:xfrm>
        </p:grpSpPr>
        <p:sp>
          <p:nvSpPr>
            <p:cNvPr id="530" name="Google Shape;530;p55"/>
            <p:cNvSpPr/>
            <p:nvPr/>
          </p:nvSpPr>
          <p:spPr>
            <a:xfrm>
              <a:off x="381000" y="10477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5"/>
            <p:cNvSpPr txBox="1"/>
            <p:nvPr/>
          </p:nvSpPr>
          <p:spPr>
            <a:xfrm>
              <a:off x="571500" y="1225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32" name="Google Shape;532;p55"/>
            <p:cNvSpPr txBox="1"/>
            <p:nvPr/>
          </p:nvSpPr>
          <p:spPr>
            <a:xfrm>
              <a:off x="571500" y="157162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Веб-серверы обслуживают сайты и запросы пользователей</a:t>
              </a:r>
              <a:endParaRPr b="0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p55"/>
          <p:cNvGrpSpPr/>
          <p:nvPr/>
        </p:nvGrpSpPr>
        <p:grpSpPr>
          <a:xfrm>
            <a:off x="4667250" y="1047750"/>
            <a:ext cx="4095900" cy="1428900"/>
            <a:chOff x="4667250" y="1047750"/>
            <a:chExt cx="4095900" cy="1428900"/>
          </a:xfrm>
        </p:grpSpPr>
        <p:sp>
          <p:nvSpPr>
            <p:cNvPr id="534" name="Google Shape;534;p55"/>
            <p:cNvSpPr/>
            <p:nvPr/>
          </p:nvSpPr>
          <p:spPr>
            <a:xfrm>
              <a:off x="4667250" y="10477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5"/>
            <p:cNvSpPr txBox="1"/>
            <p:nvPr/>
          </p:nvSpPr>
          <p:spPr>
            <a:xfrm>
              <a:off x="4857750" y="1225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36" name="Google Shape;536;p55"/>
            <p:cNvSpPr txBox="1"/>
            <p:nvPr/>
          </p:nvSpPr>
          <p:spPr>
            <a:xfrm>
              <a:off x="4857750" y="157162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pgAdmin и phpMyAdmin помогают управлять базами данных</a:t>
              </a:r>
              <a:endParaRPr b="0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p55"/>
          <p:cNvGrpSpPr/>
          <p:nvPr/>
        </p:nvGrpSpPr>
        <p:grpSpPr>
          <a:xfrm>
            <a:off x="381000" y="2667000"/>
            <a:ext cx="4095900" cy="1428900"/>
            <a:chOff x="381000" y="2667000"/>
            <a:chExt cx="4095900" cy="1428900"/>
          </a:xfrm>
        </p:grpSpPr>
        <p:sp>
          <p:nvSpPr>
            <p:cNvPr id="538" name="Google Shape;538;p55"/>
            <p:cNvSpPr/>
            <p:nvPr/>
          </p:nvSpPr>
          <p:spPr>
            <a:xfrm>
              <a:off x="381000" y="26670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55"/>
            <p:cNvSpPr txBox="1"/>
            <p:nvPr/>
          </p:nvSpPr>
          <p:spPr>
            <a:xfrm>
              <a:off x="571500" y="2844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backup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40" name="Google Shape;540;p55"/>
            <p:cNvSpPr txBox="1"/>
            <p:nvPr/>
          </p:nvSpPr>
          <p:spPr>
            <a:xfrm>
              <a:off x="571500" y="319087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Bacula и rsync нужны для резервного копирования</a:t>
              </a:r>
              <a:endParaRPr b="0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1" name="Google Shape;541;p55"/>
          <p:cNvGrpSpPr/>
          <p:nvPr/>
        </p:nvGrpSpPr>
        <p:grpSpPr>
          <a:xfrm>
            <a:off x="4667250" y="2667000"/>
            <a:ext cx="4095900" cy="1428900"/>
            <a:chOff x="4667250" y="2667000"/>
            <a:chExt cx="4095900" cy="1428900"/>
          </a:xfrm>
        </p:grpSpPr>
        <p:sp>
          <p:nvSpPr>
            <p:cNvPr id="542" name="Google Shape;542;p55"/>
            <p:cNvSpPr/>
            <p:nvPr/>
          </p:nvSpPr>
          <p:spPr>
            <a:xfrm>
              <a:off x="4667250" y="26670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55"/>
            <p:cNvSpPr txBox="1"/>
            <p:nvPr/>
          </p:nvSpPr>
          <p:spPr>
            <a:xfrm>
              <a:off x="4857750" y="2844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24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44" name="Google Shape;544;p55"/>
            <p:cNvSpPr txBox="1"/>
            <p:nvPr/>
          </p:nvSpPr>
          <p:spPr>
            <a:xfrm>
              <a:off x="4857750" y="319087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RBAC помогает безопасно управлять доступом</a:t>
              </a:r>
              <a:endParaRPr b="0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"/>
          <p:cNvSpPr txBox="1"/>
          <p:nvPr>
            <p:ph type="title"/>
          </p:nvPr>
        </p:nvSpPr>
        <p:spPr>
          <a:xfrm>
            <a:off x="1927125" y="614400"/>
            <a:ext cx="4911600" cy="9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2500">
                <a:solidFill>
                  <a:srgbClr val="000000"/>
                </a:solidFill>
              </a:rPr>
              <a:t>Инструменты DevOps</a:t>
            </a:r>
            <a:endParaRPr b="1" i="1" sz="2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000">
              <a:solidFill>
                <a:srgbClr val="000000"/>
              </a:solidFill>
            </a:endParaRPr>
          </a:p>
        </p:txBody>
      </p:sp>
      <p:pic>
        <p:nvPicPr>
          <p:cNvPr id="550" name="Google Shape;550;p56" title="bgbcdchu-v2prvclqs0bnf01jh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239" y="1577400"/>
            <a:ext cx="5454327" cy="306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7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</a:rPr>
              <a:t>Что такое DevOps?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557" name="Google Shape;557;p57"/>
          <p:cNvSpPr/>
          <p:nvPr/>
        </p:nvSpPr>
        <p:spPr>
          <a:xfrm>
            <a:off x="1238250" y="1714500"/>
            <a:ext cx="6667500" cy="22860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modern, minimalist icon representing collaboration or a bridge connecting two gears, in professional blue and slate colors." id="558" name="Google Shape;55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0500" y="133350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7"/>
          <p:cNvSpPr txBox="1"/>
          <p:nvPr/>
        </p:nvSpPr>
        <p:spPr>
          <a:xfrm>
            <a:off x="1619250" y="2286000"/>
            <a:ext cx="5905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DevOps (девопс)</a:t>
            </a:r>
            <a:r>
              <a:rPr b="0" lang="ru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— это культура и набор практик, объединяющие разработчиков </a:t>
            </a:r>
            <a:r>
              <a:rPr b="1" lang="ru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(Dev)</a:t>
            </a:r>
            <a:r>
              <a:rPr b="0" lang="ru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и сисадминов </a:t>
            </a:r>
            <a:r>
              <a:rPr b="1" lang="ru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(Ops)</a:t>
            </a:r>
            <a:r>
              <a:rPr b="0" lang="ru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в единую команду. </a:t>
            </a:r>
            <a:r>
              <a:rPr lang="ru">
                <a:solidFill>
                  <a:srgbClr val="1E293B"/>
                </a:solidFill>
              </a:rPr>
              <a:t>Д</a:t>
            </a:r>
            <a:r>
              <a:rPr b="0" lang="ru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ля автоматизации, ускорения выпуска качественного ПО и улучшения взаимодействия команд. </a:t>
            </a:r>
            <a:endParaRPr b="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Ключевые цели: непрерывная интеграция/доставка (CI/CD), надежность инфраструктуры, автоматизация рутины и сокращение времени от разработки до продакшена.</a:t>
            </a:r>
            <a:endParaRPr b="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8"/>
          <p:cNvSpPr txBox="1"/>
          <p:nvPr/>
        </p:nvSpPr>
        <p:spPr>
          <a:xfrm>
            <a:off x="381000" y="-622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FFFFFF"/>
                </a:solidFill>
              </a:rPr>
              <a:t>Инструменты DevOps для сопровождения</a:t>
            </a:r>
            <a:endParaRPr sz="2000">
              <a:solidFill>
                <a:srgbClr val="FFFFFF"/>
              </a:solidFill>
            </a:endParaRPr>
          </a:p>
        </p:txBody>
      </p:sp>
      <p:grpSp>
        <p:nvGrpSpPr>
          <p:cNvPr id="566" name="Google Shape;566;p58"/>
          <p:cNvGrpSpPr/>
          <p:nvPr/>
        </p:nvGrpSpPr>
        <p:grpSpPr>
          <a:xfrm>
            <a:off x="381000" y="1047750"/>
            <a:ext cx="4095900" cy="2667000"/>
            <a:chOff x="381000" y="1047750"/>
            <a:chExt cx="4095900" cy="2667000"/>
          </a:xfrm>
        </p:grpSpPr>
        <p:sp>
          <p:nvSpPr>
            <p:cNvPr id="567" name="Google Shape;567;p58"/>
            <p:cNvSpPr/>
            <p:nvPr/>
          </p:nvSpPr>
          <p:spPr>
            <a:xfrm>
              <a:off x="381000" y="1047750"/>
              <a:ext cx="40959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58"/>
            <p:cNvSpPr txBox="1"/>
            <p:nvPr/>
          </p:nvSpPr>
          <p:spPr>
            <a:xfrm>
              <a:off x="571500" y="123825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Рассмотрим: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Ansible</a:t>
              </a:r>
              <a:endParaRPr b="0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Prometheus</a:t>
              </a:r>
              <a:endParaRPr b="0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Grafana</a:t>
              </a:r>
              <a:endParaRPr b="0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Alertmanager</a:t>
              </a:r>
              <a:endParaRPr b="0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p58"/>
          <p:cNvGrpSpPr/>
          <p:nvPr/>
        </p:nvGrpSpPr>
        <p:grpSpPr>
          <a:xfrm>
            <a:off x="4622225" y="761997"/>
            <a:ext cx="4095900" cy="2666850"/>
            <a:chOff x="4667250" y="77475"/>
            <a:chExt cx="4095900" cy="3637275"/>
          </a:xfrm>
        </p:grpSpPr>
        <p:sp>
          <p:nvSpPr>
            <p:cNvPr id="570" name="Google Shape;570;p58"/>
            <p:cNvSpPr/>
            <p:nvPr/>
          </p:nvSpPr>
          <p:spPr>
            <a:xfrm>
              <a:off x="4667250" y="1047750"/>
              <a:ext cx="4095900" cy="2667000"/>
            </a:xfrm>
            <a:prstGeom prst="roundRect">
              <a:avLst>
                <a:gd fmla="val 4285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8"/>
            <p:cNvSpPr txBox="1"/>
            <p:nvPr/>
          </p:nvSpPr>
          <p:spPr>
            <a:xfrm>
              <a:off x="4857750" y="77475"/>
              <a:ext cx="3714900" cy="240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track_chaes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Цель лекции: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ru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Понять, как настраивают, контролируют и сопровождают современные серверные системы</a:t>
              </a:r>
              <a:endParaRPr b="0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Администратор серверов</a:t>
            </a:r>
            <a:endParaRPr/>
          </a:p>
        </p:txBody>
      </p:sp>
      <p:sp>
        <p:nvSpPr>
          <p:cNvPr id="577" name="Google Shape;57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Администратор серверов отвечает за: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установку и настройку программ;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запуск и проверку служб;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обновление серверной системы;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контроль доступности сервисов;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поиск и устранение сбоев.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chemeClr val="dk1"/>
                </a:solidFill>
              </a:rPr>
              <a:t>Главная задача:</a:t>
            </a:r>
            <a:br>
              <a:rPr b="1" lang="ru" sz="1400">
                <a:solidFill>
                  <a:schemeClr val="dk1"/>
                </a:solidFill>
              </a:rPr>
            </a:br>
            <a:r>
              <a:rPr lang="ru" sz="1400">
                <a:solidFill>
                  <a:schemeClr val="dk1"/>
                </a:solidFill>
              </a:rPr>
              <a:t>сделать так, чтобы сервер и сервисы работали стабильно. Если что-то перестаёт работать, именно администратор ищет причину и восстанавливает работу.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Администратор баз данных</a:t>
            </a:r>
            <a:endParaRPr/>
          </a:p>
        </p:txBody>
      </p:sp>
      <p:sp>
        <p:nvSpPr>
          <p:cNvPr id="583" name="Google Shape;583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Администратор баз данных: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создаёт базы данных;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настраивает пользователей и роли;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выдаёт права доступа;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следит за производительностью;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контролирует резервное копирование и восстановление.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Главная задача:</a:t>
            </a:r>
            <a:br>
              <a:rPr b="1" lang="ru" sz="1400">
                <a:solidFill>
                  <a:schemeClr val="dk1"/>
                </a:solidFill>
              </a:rPr>
            </a:br>
            <a:r>
              <a:rPr lang="ru" sz="1400">
                <a:solidFill>
                  <a:schemeClr val="dk1"/>
                </a:solidFill>
              </a:rPr>
              <a:t>обеспечить сохранность, доступность и правильную работу данных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1"/>
          <p:cNvSpPr txBox="1"/>
          <p:nvPr>
            <p:ph type="title"/>
          </p:nvPr>
        </p:nvSpPr>
        <p:spPr>
          <a:xfrm>
            <a:off x="311700" y="445025"/>
            <a:ext cx="620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ручного администрирования</a:t>
            </a:r>
            <a:endParaRPr/>
          </a:p>
        </p:txBody>
      </p:sp>
      <p:sp>
        <p:nvSpPr>
          <p:cNvPr id="589" name="Google Shape;589;p61"/>
          <p:cNvSpPr txBox="1"/>
          <p:nvPr>
            <p:ph idx="1" type="body"/>
          </p:nvPr>
        </p:nvSpPr>
        <p:spPr>
          <a:xfrm>
            <a:off x="311700" y="1152475"/>
            <a:ext cx="533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настройка занимает много времени;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действия сложно повторять одинаково;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легко допустить ошибку;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трудно контролировать много серверов;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сбой можно заметить слишком поздно.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chemeClr val="dk1"/>
                </a:solidFill>
              </a:rPr>
              <a:t>Вывод:</a:t>
            </a:r>
            <a:br>
              <a:rPr b="1" lang="ru" sz="1400">
                <a:solidFill>
                  <a:schemeClr val="dk1"/>
                </a:solidFill>
              </a:rPr>
            </a:br>
            <a:r>
              <a:rPr lang="ru" sz="1400">
                <a:solidFill>
                  <a:schemeClr val="dk1"/>
                </a:solidFill>
              </a:rPr>
              <a:t>чем больше инфраструктура, тем важнее автоматизация и мониторинг.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Когда серверов и сервисов становится много, сопровождать их вручную невозможно. Поэтому используют </a:t>
            </a:r>
            <a:r>
              <a:rPr b="1" lang="ru" sz="1400">
                <a:solidFill>
                  <a:schemeClr val="dk1"/>
                </a:solidFill>
              </a:rPr>
              <a:t>DevOps-инструменты</a:t>
            </a:r>
            <a:r>
              <a:rPr lang="ru" sz="1400">
                <a:solidFill>
                  <a:schemeClr val="dk1"/>
                </a:solidFill>
              </a:rPr>
              <a:t>, которые помогают автоматизировать настройку.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запутанные провода" id="590" name="Google Shape;59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900" y="1152475"/>
            <a:ext cx="3189300" cy="31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DevOps-инструменты помогают</a:t>
            </a:r>
            <a:endParaRPr/>
          </a:p>
        </p:txBody>
      </p:sp>
      <p:sp>
        <p:nvSpPr>
          <p:cNvPr id="596" name="Google Shape;596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уменьшить ручную работу;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ускорить развёртывание;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делать настройки одинаковыми;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видеть состояние системы в цифрах;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вовремя узнавать о проблемах.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DevOps-инструменты нужны для того, чтобы сопровождение системы было более надёжным и предсказуемым.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97" name="Google Shape;597;p62" title="0a12a17d0a0f6d24bc18e7eccbf2eb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525" y="2751650"/>
            <a:ext cx="4500926" cy="25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</a:t>
            </a:r>
            <a:r>
              <a:rPr lang="ru"/>
              <a:t>нструменты сопровождения инфраструктуры, которые широко используют в DevOps.</a:t>
            </a:r>
            <a:endParaRPr/>
          </a:p>
        </p:txBody>
      </p:sp>
      <p:sp>
        <p:nvSpPr>
          <p:cNvPr id="603" name="Google Shape;603;p63"/>
          <p:cNvSpPr txBox="1"/>
          <p:nvPr>
            <p:ph idx="1" type="body"/>
          </p:nvPr>
        </p:nvSpPr>
        <p:spPr>
          <a:xfrm>
            <a:off x="311700" y="1424025"/>
            <a:ext cx="8520600" cy="31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Все эти инструменты связаны между собой.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04" name="Google Shape;604;p63"/>
          <p:cNvGraphicFramePr/>
          <p:nvPr/>
        </p:nvGraphicFramePr>
        <p:xfrm>
          <a:off x="875150" y="23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{9231DD4A-00E7-49F3-BD3E-B96F6FB43EC1}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Ansible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настраивает и разворачивает систему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Prometheus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собирает метрики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Grafana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показывает графики и дашборды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Alertmanager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присылает уведомления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Ansible</a:t>
            </a:r>
            <a:endParaRPr/>
          </a:p>
        </p:txBody>
      </p:sp>
      <p:sp>
        <p:nvSpPr>
          <p:cNvPr id="610" name="Google Shape;610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Это инструмент автоматизации.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Он помогает: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настраивать серверы;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устанавливать программы;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разворачивать приложения;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выполнять повторяющиеся действия одинаково;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управлять сразу несколькими серверами.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64" title="17109360750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525" y="1292050"/>
            <a:ext cx="3478875" cy="226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5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rPr>
              <a:t>Основные элементы Ansible</a:t>
            </a:r>
            <a:endParaRPr b="1" sz="2800">
              <a:solidFill>
                <a:srgbClr val="4E3F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7" name="Google Shape;617;p65"/>
          <p:cNvGrpSpPr/>
          <p:nvPr/>
        </p:nvGrpSpPr>
        <p:grpSpPr>
          <a:xfrm>
            <a:off x="381000" y="1333500"/>
            <a:ext cx="4095900" cy="1238400"/>
            <a:chOff x="381000" y="1333500"/>
            <a:chExt cx="4095900" cy="1238400"/>
          </a:xfrm>
        </p:grpSpPr>
        <p:sp>
          <p:nvSpPr>
            <p:cNvPr id="618" name="Google Shape;618;p65"/>
            <p:cNvSpPr/>
            <p:nvPr/>
          </p:nvSpPr>
          <p:spPr>
            <a:xfrm>
              <a:off x="381000" y="133350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5"/>
            <p:cNvSpPr txBox="1"/>
            <p:nvPr/>
          </p:nvSpPr>
          <p:spPr>
            <a:xfrm>
              <a:off x="571500" y="1511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0" name="Google Shape;620;p65"/>
            <p:cNvSpPr txBox="1"/>
            <p:nvPr/>
          </p:nvSpPr>
          <p:spPr>
            <a:xfrm>
              <a:off x="1047750" y="147637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Inventory</a:t>
              </a:r>
              <a:endParaRPr b="1" sz="16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Это список серверов, с которыми работает система.</a:t>
              </a:r>
              <a:endParaRPr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65"/>
          <p:cNvGrpSpPr/>
          <p:nvPr/>
        </p:nvGrpSpPr>
        <p:grpSpPr>
          <a:xfrm>
            <a:off x="4667250" y="1333500"/>
            <a:ext cx="4095900" cy="1238400"/>
            <a:chOff x="4667250" y="1333500"/>
            <a:chExt cx="4095900" cy="1238400"/>
          </a:xfrm>
        </p:grpSpPr>
        <p:sp>
          <p:nvSpPr>
            <p:cNvPr id="622" name="Google Shape;622;p65"/>
            <p:cNvSpPr/>
            <p:nvPr/>
          </p:nvSpPr>
          <p:spPr>
            <a:xfrm>
              <a:off x="4667250" y="133350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5"/>
            <p:cNvSpPr txBox="1"/>
            <p:nvPr/>
          </p:nvSpPr>
          <p:spPr>
            <a:xfrm>
              <a:off x="4857750" y="1511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4" name="Google Shape;624;p65"/>
            <p:cNvSpPr txBox="1"/>
            <p:nvPr/>
          </p:nvSpPr>
          <p:spPr>
            <a:xfrm>
              <a:off x="5334000" y="147637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Playbook</a:t>
              </a:r>
              <a:endParaRPr b="1" sz="16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Это сценарий, где описано, что именно нужно сделать.</a:t>
              </a:r>
              <a:endParaRPr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65"/>
          <p:cNvGrpSpPr/>
          <p:nvPr/>
        </p:nvGrpSpPr>
        <p:grpSpPr>
          <a:xfrm>
            <a:off x="381000" y="2762250"/>
            <a:ext cx="4095900" cy="1238400"/>
            <a:chOff x="381000" y="2762250"/>
            <a:chExt cx="4095900" cy="1238400"/>
          </a:xfrm>
        </p:grpSpPr>
        <p:sp>
          <p:nvSpPr>
            <p:cNvPr id="626" name="Google Shape;626;p65"/>
            <p:cNvSpPr/>
            <p:nvPr/>
          </p:nvSpPr>
          <p:spPr>
            <a:xfrm>
              <a:off x="381000" y="276225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5"/>
            <p:cNvSpPr txBox="1"/>
            <p:nvPr/>
          </p:nvSpPr>
          <p:spPr>
            <a:xfrm>
              <a:off x="571500" y="2940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checklist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8" name="Google Shape;628;p65"/>
            <p:cNvSpPr txBox="1"/>
            <p:nvPr/>
          </p:nvSpPr>
          <p:spPr>
            <a:xfrm>
              <a:off x="1047750" y="290512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Task</a:t>
              </a:r>
              <a:endParaRPr b="1" sz="16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Это отдельный шаг внутри сценария.</a:t>
              </a:r>
              <a:endParaRPr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9" name="Google Shape;629;p65"/>
          <p:cNvGrpSpPr/>
          <p:nvPr/>
        </p:nvGrpSpPr>
        <p:grpSpPr>
          <a:xfrm>
            <a:off x="4667250" y="2762250"/>
            <a:ext cx="4095900" cy="1238400"/>
            <a:chOff x="4667250" y="2762250"/>
            <a:chExt cx="4095900" cy="1238400"/>
          </a:xfrm>
        </p:grpSpPr>
        <p:sp>
          <p:nvSpPr>
            <p:cNvPr id="630" name="Google Shape;630;p65"/>
            <p:cNvSpPr/>
            <p:nvPr/>
          </p:nvSpPr>
          <p:spPr>
            <a:xfrm>
              <a:off x="4667250" y="276225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5"/>
            <p:cNvSpPr txBox="1"/>
            <p:nvPr/>
          </p:nvSpPr>
          <p:spPr>
            <a:xfrm>
              <a:off x="4857750" y="2940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32" name="Google Shape;632;p65"/>
            <p:cNvSpPr txBox="1"/>
            <p:nvPr/>
          </p:nvSpPr>
          <p:spPr>
            <a:xfrm>
              <a:off x="5334000" y="290512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Group</a:t>
              </a:r>
              <a:endParaRPr b="1" sz="16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Группа серверов для совместного управления.</a:t>
              </a:r>
              <a:endParaRPr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6"/>
          <p:cNvSpPr txBox="1"/>
          <p:nvPr>
            <p:ph type="title"/>
          </p:nvPr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rPr>
              <a:t>Пример использования Ansible</a:t>
            </a:r>
            <a:endParaRPr b="1" sz="2800">
              <a:solidFill>
                <a:srgbClr val="4E3F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p66"/>
          <p:cNvGrpSpPr/>
          <p:nvPr/>
        </p:nvGrpSpPr>
        <p:grpSpPr>
          <a:xfrm>
            <a:off x="381000" y="1143000"/>
            <a:ext cx="4095900" cy="2667000"/>
            <a:chOff x="381000" y="1143000"/>
            <a:chExt cx="4095900" cy="2667000"/>
          </a:xfrm>
        </p:grpSpPr>
        <p:sp>
          <p:nvSpPr>
            <p:cNvPr id="639" name="Google Shape;639;p66"/>
            <p:cNvSpPr/>
            <p:nvPr/>
          </p:nvSpPr>
          <p:spPr>
            <a:xfrm>
              <a:off x="381000" y="1143000"/>
              <a:ext cx="4095900" cy="2667000"/>
            </a:xfrm>
            <a:prstGeom prst="roundRect">
              <a:avLst>
                <a:gd fmla="val 4285" name="adj"/>
              </a:avLst>
            </a:prstGeom>
            <a:solidFill>
              <a:srgbClr val="FEF2F2"/>
            </a:solidFill>
            <a:ln cap="flat" cmpd="sng" w="9525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6"/>
            <p:cNvSpPr txBox="1"/>
            <p:nvPr/>
          </p:nvSpPr>
          <p:spPr>
            <a:xfrm>
              <a:off x="571500" y="1333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Без Ansible:</a:t>
              </a:r>
              <a:endParaRPr b="1" sz="16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заходить на каждый сервер отдельно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вводить одинаковые команды много раз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можно забыть какой-то шаг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настройки могут отличаться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1" name="Google Shape;641;p66"/>
          <p:cNvGrpSpPr/>
          <p:nvPr/>
        </p:nvGrpSpPr>
        <p:grpSpPr>
          <a:xfrm>
            <a:off x="4667250" y="1143000"/>
            <a:ext cx="4095900" cy="2667000"/>
            <a:chOff x="4667250" y="1143000"/>
            <a:chExt cx="4095900" cy="2667000"/>
          </a:xfrm>
        </p:grpSpPr>
        <p:sp>
          <p:nvSpPr>
            <p:cNvPr id="642" name="Google Shape;642;p66"/>
            <p:cNvSpPr/>
            <p:nvPr/>
          </p:nvSpPr>
          <p:spPr>
            <a:xfrm>
              <a:off x="4667250" y="1143000"/>
              <a:ext cx="4095900" cy="2667000"/>
            </a:xfrm>
            <a:prstGeom prst="roundRect">
              <a:avLst>
                <a:gd fmla="val 4285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6"/>
            <p:cNvSpPr txBox="1"/>
            <p:nvPr/>
          </p:nvSpPr>
          <p:spPr>
            <a:xfrm>
              <a:off x="4857750" y="1333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С Ansible:</a:t>
              </a:r>
              <a:endParaRPr b="1" sz="16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один раз описали нужные действия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сразу применили ко всем серверам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настройки одинаковые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E3F0C"/>
                </a:buClr>
                <a:buSzPts val="1300"/>
                <a:buFont typeface="Arial"/>
                <a:buChar char="●"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работа быстрее и удобнее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66"/>
          <p:cNvGrpSpPr/>
          <p:nvPr/>
        </p:nvGrpSpPr>
        <p:grpSpPr>
          <a:xfrm>
            <a:off x="381000" y="4000500"/>
            <a:ext cx="8382000" cy="762000"/>
            <a:chOff x="381000" y="4000500"/>
            <a:chExt cx="8382000" cy="762000"/>
          </a:xfrm>
        </p:grpSpPr>
        <p:sp>
          <p:nvSpPr>
            <p:cNvPr id="645" name="Google Shape;645;p66"/>
            <p:cNvSpPr/>
            <p:nvPr/>
          </p:nvSpPr>
          <p:spPr>
            <a:xfrm>
              <a:off x="381000" y="4000500"/>
              <a:ext cx="8382000" cy="762000"/>
            </a:xfrm>
            <a:prstGeom prst="roundRect">
              <a:avLst>
                <a:gd fmla="val 10000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6"/>
            <p:cNvSpPr txBox="1"/>
            <p:nvPr/>
          </p:nvSpPr>
          <p:spPr>
            <a:xfrm>
              <a:off x="571500" y="4000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4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Администратор один раз </a:t>
              </a:r>
              <a:r>
                <a:rPr lang="ru">
                  <a:solidFill>
                    <a:srgbClr val="4E3F0C"/>
                  </a:solidFill>
                </a:rPr>
                <a:t>прописывает</a:t>
              </a:r>
              <a:r>
                <a:rPr b="0" lang="ru" sz="14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, что именно нужно сделать, и потом применяет это сразу ко всем серверам.</a:t>
              </a:r>
              <a:endParaRPr b="0" sz="14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</a:t>
            </a:r>
            <a:endParaRPr/>
          </a:p>
        </p:txBody>
      </p:sp>
      <p:sp>
        <p:nvSpPr>
          <p:cNvPr id="652" name="Google Shape;652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Э</a:t>
            </a:r>
            <a:r>
              <a:rPr lang="ru">
                <a:solidFill>
                  <a:schemeClr val="dk1"/>
                </a:solidFill>
              </a:rPr>
              <a:t>то числовые показатели, которые описывают состояние сервера, базы данных или приложения.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</a:rPr>
              <a:t>Для сбора таких метрик часто используют </a:t>
            </a:r>
            <a:r>
              <a:rPr b="1" lang="ru">
                <a:solidFill>
                  <a:schemeClr val="dk1"/>
                </a:solidFill>
              </a:rPr>
              <a:t>Prometheus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chemeClr val="dk1"/>
                </a:solidFill>
              </a:rPr>
              <a:t>Метрики помогают понять: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насколько загружен процессор,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не заканчивается ли память,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не выросло ли число ошибок,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не стал ли сервис отвечать слишком медленно.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Prometheus</a:t>
            </a:r>
            <a:endParaRPr/>
          </a:p>
        </p:txBody>
      </p:sp>
      <p:sp>
        <p:nvSpPr>
          <p:cNvPr id="658" name="Google Shape;658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 инструмент, который собирает метрики и хранит их.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Он умеет: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собирать метрики с серверов и приложений;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хранить показатели во времени;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выполнять запросы к метрикам;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помогать находить проблемы;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быть основой наблюдения за системой.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59" name="Google Shape;659;p68" title="195cc03f7a884f287bb1bc22f332a2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250" y="1606400"/>
            <a:ext cx="3432300" cy="193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9"/>
          <p:cNvSpPr/>
          <p:nvPr/>
        </p:nvSpPr>
        <p:spPr>
          <a:xfrm>
            <a:off x="0" y="0"/>
            <a:ext cx="9144000" cy="104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69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Prometheus помогает наблюдать:</a:t>
            </a:r>
            <a:endParaRPr b="1" sz="24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6" name="Google Shape;666;p69"/>
          <p:cNvGrpSpPr/>
          <p:nvPr/>
        </p:nvGrpSpPr>
        <p:grpSpPr>
          <a:xfrm>
            <a:off x="476250" y="1333500"/>
            <a:ext cx="8191650" cy="3333750"/>
            <a:chOff x="476250" y="1333500"/>
            <a:chExt cx="8191650" cy="3333750"/>
          </a:xfrm>
        </p:grpSpPr>
        <p:sp>
          <p:nvSpPr>
            <p:cNvPr id="667" name="Google Shape;667;p69"/>
            <p:cNvSpPr/>
            <p:nvPr/>
          </p:nvSpPr>
          <p:spPr>
            <a:xfrm>
              <a:off x="476250" y="1333500"/>
              <a:ext cx="2571900" cy="1524000"/>
            </a:xfrm>
            <a:prstGeom prst="roundRect">
              <a:avLst>
                <a:gd fmla="val 75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9"/>
            <p:cNvSpPr txBox="1"/>
            <p:nvPr/>
          </p:nvSpPr>
          <p:spPr>
            <a:xfrm>
              <a:off x="619125" y="15172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3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3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69" name="Google Shape;669;p69"/>
            <p:cNvSpPr txBox="1"/>
            <p:nvPr/>
          </p:nvSpPr>
          <p:spPr>
            <a:xfrm>
              <a:off x="619125" y="190500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Серверы</a:t>
              </a:r>
              <a:endParaRPr b="1" sz="136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02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Мониторинг общего состояния и доступности физических или виртуальных узлов.</a:t>
              </a:r>
              <a:endParaRPr sz="102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9"/>
            <p:cNvSpPr/>
            <p:nvPr/>
          </p:nvSpPr>
          <p:spPr>
            <a:xfrm>
              <a:off x="3286125" y="1333500"/>
              <a:ext cx="2571900" cy="1524000"/>
            </a:xfrm>
            <a:prstGeom prst="roundRect">
              <a:avLst>
                <a:gd fmla="val 75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9"/>
            <p:cNvSpPr txBox="1"/>
            <p:nvPr/>
          </p:nvSpPr>
          <p:spPr>
            <a:xfrm>
              <a:off x="3429000" y="15172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3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cloud_done</a:t>
              </a:r>
              <a:endParaRPr sz="23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2" name="Google Shape;672;p69"/>
            <p:cNvSpPr txBox="1"/>
            <p:nvPr/>
          </p:nvSpPr>
          <p:spPr>
            <a:xfrm>
              <a:off x="3429000" y="190500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Сервисы</a:t>
              </a:r>
              <a:endParaRPr b="1" sz="136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02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Контроль доступности и работоспособности микросервисов в реальном времени.</a:t>
              </a:r>
              <a:endParaRPr sz="102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9"/>
            <p:cNvSpPr/>
            <p:nvPr/>
          </p:nvSpPr>
          <p:spPr>
            <a:xfrm>
              <a:off x="6096000" y="1333500"/>
              <a:ext cx="2571900" cy="1524000"/>
            </a:xfrm>
            <a:prstGeom prst="roundRect">
              <a:avLst>
                <a:gd fmla="val 75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9"/>
            <p:cNvSpPr txBox="1"/>
            <p:nvPr/>
          </p:nvSpPr>
          <p:spPr>
            <a:xfrm>
              <a:off x="6238875" y="15172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3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3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5" name="Google Shape;675;p69"/>
            <p:cNvSpPr txBox="1"/>
            <p:nvPr/>
          </p:nvSpPr>
          <p:spPr>
            <a:xfrm>
              <a:off x="6238875" y="190500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8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Нагрузка</a:t>
              </a:r>
              <a:endParaRPr b="1" sz="148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1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Анализ нагрузки на приложение, использование CPU и памяти.</a:t>
              </a:r>
              <a:endParaRPr sz="111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9"/>
            <p:cNvSpPr/>
            <p:nvPr/>
          </p:nvSpPr>
          <p:spPr>
            <a:xfrm>
              <a:off x="476250" y="3143250"/>
              <a:ext cx="2571900" cy="1524000"/>
            </a:xfrm>
            <a:prstGeom prst="roundRect">
              <a:avLst>
                <a:gd fmla="val 75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9"/>
            <p:cNvSpPr txBox="1"/>
            <p:nvPr/>
          </p:nvSpPr>
          <p:spPr>
            <a:xfrm>
              <a:off x="619125" y="33270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3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3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8" name="Google Shape;678;p69"/>
            <p:cNvSpPr txBox="1"/>
            <p:nvPr/>
          </p:nvSpPr>
          <p:spPr>
            <a:xfrm>
              <a:off x="619125" y="371475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Ошибки и ответ</a:t>
              </a:r>
              <a:endParaRPr b="1" sz="136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02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Отслеживание частоты ошибок (4xx/5xx) и времени отклика системы.</a:t>
              </a:r>
              <a:endParaRPr sz="102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69"/>
            <p:cNvSpPr/>
            <p:nvPr/>
          </p:nvSpPr>
          <p:spPr>
            <a:xfrm>
              <a:off x="3286125" y="3143250"/>
              <a:ext cx="2571900" cy="1524000"/>
            </a:xfrm>
            <a:prstGeom prst="roundRect">
              <a:avLst>
                <a:gd fmla="val 75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9"/>
            <p:cNvSpPr txBox="1"/>
            <p:nvPr/>
          </p:nvSpPr>
          <p:spPr>
            <a:xfrm>
              <a:off x="3429000" y="33270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3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3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81" name="Google Shape;681;p69"/>
            <p:cNvSpPr txBox="1"/>
            <p:nvPr/>
          </p:nvSpPr>
          <p:spPr>
            <a:xfrm>
              <a:off x="3429000" y="371475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Базы данных</a:t>
              </a:r>
              <a:endParaRPr b="1" sz="136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02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Мониторинг производительности БД, транзакций и времени выполнения запросов.</a:t>
              </a:r>
              <a:endParaRPr sz="102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69"/>
            <p:cNvSpPr/>
            <p:nvPr/>
          </p:nvSpPr>
          <p:spPr>
            <a:xfrm>
              <a:off x="6096000" y="3143250"/>
              <a:ext cx="2571900" cy="1524000"/>
            </a:xfrm>
            <a:prstGeom prst="roundRect">
              <a:avLst>
                <a:gd fmla="val 75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9"/>
            <p:cNvSpPr txBox="1"/>
            <p:nvPr/>
          </p:nvSpPr>
          <p:spPr>
            <a:xfrm>
              <a:off x="6238875" y="33270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3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swap_horiz</a:t>
              </a:r>
              <a:endParaRPr sz="23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84" name="Google Shape;684;p69"/>
            <p:cNvSpPr txBox="1"/>
            <p:nvPr/>
          </p:nvSpPr>
          <p:spPr>
            <a:xfrm>
              <a:off x="6238875" y="371475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Запросы</a:t>
              </a:r>
              <a:endParaRPr b="1" sz="136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02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Подсчет активных подключений и общего количества входящих запросов.</a:t>
              </a:r>
              <a:endParaRPr sz="102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Grafana</a:t>
            </a:r>
            <a:endParaRPr/>
          </a:p>
        </p:txBody>
      </p:sp>
      <p:sp>
        <p:nvSpPr>
          <p:cNvPr id="690" name="Google Shape;690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Э</a:t>
            </a:r>
            <a:r>
              <a:rPr lang="ru" sz="1400">
                <a:solidFill>
                  <a:schemeClr val="dk1"/>
                </a:solidFill>
              </a:rPr>
              <a:t>то инструмент визуализации. В ней создают</a:t>
            </a:r>
            <a:r>
              <a:rPr lang="ru" sz="1400"/>
              <a:t> </a:t>
            </a:r>
            <a:r>
              <a:rPr b="1" lang="ru" sz="1400">
                <a:solidFill>
                  <a:schemeClr val="dk1"/>
                </a:solidFill>
              </a:rPr>
              <a:t>графики и дашборды</a:t>
            </a:r>
            <a:r>
              <a:rPr lang="ru" sz="1400"/>
              <a:t>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Она помогает: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строить графики;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собирать дашборды;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видеть данные из Prometheus;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быстро замечать отклонения;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удобно показывать состояние системы.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1" name="Google Shape;691;p70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3725" y="1152475"/>
            <a:ext cx="2114550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71"/>
          <p:cNvSpPr/>
          <p:nvPr/>
        </p:nvSpPr>
        <p:spPr>
          <a:xfrm>
            <a:off x="0" y="0"/>
            <a:ext cx="9144000" cy="104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71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80"/>
              <a:t>Дашборд</a:t>
            </a:r>
            <a:endParaRPr sz="2480"/>
          </a:p>
        </p:txBody>
      </p:sp>
      <p:grpSp>
        <p:nvGrpSpPr>
          <p:cNvPr id="699" name="Google Shape;699;p71"/>
          <p:cNvGrpSpPr/>
          <p:nvPr/>
        </p:nvGrpSpPr>
        <p:grpSpPr>
          <a:xfrm>
            <a:off x="381000" y="1333500"/>
            <a:ext cx="4095900" cy="1714500"/>
            <a:chOff x="381000" y="1333500"/>
            <a:chExt cx="4095900" cy="1714500"/>
          </a:xfrm>
        </p:grpSpPr>
        <p:sp>
          <p:nvSpPr>
            <p:cNvPr id="700" name="Google Shape;700;p71"/>
            <p:cNvSpPr/>
            <p:nvPr/>
          </p:nvSpPr>
          <p:spPr>
            <a:xfrm>
              <a:off x="381000" y="1333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71"/>
            <p:cNvSpPr txBox="1"/>
            <p:nvPr/>
          </p:nvSpPr>
          <p:spPr>
            <a:xfrm>
              <a:off x="571500" y="1559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02" name="Google Shape;702;p71"/>
            <p:cNvSpPr txBox="1"/>
            <p:nvPr/>
          </p:nvSpPr>
          <p:spPr>
            <a:xfrm>
              <a:off x="571500" y="1905000"/>
              <a:ext cx="3429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Что это такое?</a:t>
              </a:r>
              <a:endParaRPr b="1" sz="135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Информационная панель, которая получает данные из других систем и отображает их в понятном виде.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p71"/>
          <p:cNvGrpSpPr/>
          <p:nvPr/>
        </p:nvGrpSpPr>
        <p:grpSpPr>
          <a:xfrm>
            <a:off x="4667250" y="1333500"/>
            <a:ext cx="4095900" cy="1714500"/>
            <a:chOff x="4667250" y="1333500"/>
            <a:chExt cx="4095900" cy="1714500"/>
          </a:xfrm>
        </p:grpSpPr>
        <p:sp>
          <p:nvSpPr>
            <p:cNvPr id="704" name="Google Shape;704;p71"/>
            <p:cNvSpPr/>
            <p:nvPr/>
          </p:nvSpPr>
          <p:spPr>
            <a:xfrm>
              <a:off x="4667250" y="13335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71"/>
            <p:cNvSpPr txBox="1"/>
            <p:nvPr/>
          </p:nvSpPr>
          <p:spPr>
            <a:xfrm>
              <a:off x="4857750" y="1559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06" name="Google Shape;706;p71"/>
            <p:cNvSpPr txBox="1"/>
            <p:nvPr/>
          </p:nvSpPr>
          <p:spPr>
            <a:xfrm>
              <a:off x="4857750" y="1905000"/>
              <a:ext cx="3429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Визуализация и обновление</a:t>
              </a:r>
              <a:endParaRPr b="1" sz="135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Использует текст, графики и диаграммы. Данные обновляются автоматически или в реальном времени.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71"/>
          <p:cNvGrpSpPr/>
          <p:nvPr/>
        </p:nvGrpSpPr>
        <p:grpSpPr>
          <a:xfrm>
            <a:off x="381000" y="3238500"/>
            <a:ext cx="8382000" cy="1285136"/>
            <a:chOff x="381000" y="3238500"/>
            <a:chExt cx="8382000" cy="1285136"/>
          </a:xfrm>
        </p:grpSpPr>
        <p:sp>
          <p:nvSpPr>
            <p:cNvPr id="708" name="Google Shape;708;p71"/>
            <p:cNvSpPr/>
            <p:nvPr/>
          </p:nvSpPr>
          <p:spPr>
            <a:xfrm>
              <a:off x="381000" y="3238500"/>
              <a:ext cx="8382000" cy="1238400"/>
            </a:xfrm>
            <a:prstGeom prst="roundRect">
              <a:avLst>
                <a:gd fmla="val 9230" name="adj"/>
              </a:avLst>
            </a:prstGeom>
            <a:solidFill>
              <a:srgbClr val="FFFBEB"/>
            </a:solidFill>
            <a:ln cap="flat" cmpd="sng" w="1905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71"/>
            <p:cNvSpPr txBox="1"/>
            <p:nvPr/>
          </p:nvSpPr>
          <p:spPr>
            <a:xfrm>
              <a:off x="571500" y="3285236"/>
              <a:ext cx="5715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2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32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10" name="Google Shape;710;p71"/>
            <p:cNvSpPr txBox="1"/>
            <p:nvPr/>
          </p:nvSpPr>
          <p:spPr>
            <a:xfrm>
              <a:off x="1238250" y="3238500"/>
              <a:ext cx="7239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Зачем они нужны?</a:t>
              </a:r>
              <a:endParaRPr b="1" sz="15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Дашборды нужны для принятия решений. Вместо десятков отчётов достаточно одной панели для быстрого анализа ситуации.</a:t>
              </a:r>
              <a:endParaRPr b="0"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72" title="06491731032023_5c20dcbcfbab07ab6c2df7e27444d5ac2afca56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3000"/>
            <a:ext cx="8839200" cy="307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500">
                <a:solidFill>
                  <a:schemeClr val="dk2"/>
                </a:solidFill>
              </a:rPr>
              <a:t>Что может быть на дашборде:</a:t>
            </a:r>
            <a:endParaRPr sz="2500"/>
          </a:p>
        </p:txBody>
      </p:sp>
      <p:sp>
        <p:nvSpPr>
          <p:cNvPr id="721" name="Google Shape;721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Что может быть на дашборде: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CPU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i="1" lang="ru" sz="1400">
                <a:solidFill>
                  <a:schemeClr val="dk1"/>
                </a:solidFill>
              </a:rPr>
              <a:t>(загрузка процессора)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RAM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i="1" lang="ru" sz="1400">
                <a:solidFill>
                  <a:schemeClr val="dk1"/>
                </a:solidFill>
              </a:rPr>
              <a:t>(использование оперативной памяти)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Disk usage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i="1" lang="ru" sz="1400">
                <a:solidFill>
                  <a:schemeClr val="dk1"/>
                </a:solidFill>
              </a:rPr>
              <a:t>(сколько занято места на диске)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Количество запросов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i="1" lang="ru" sz="1400">
                <a:solidFill>
                  <a:schemeClr val="dk1"/>
                </a:solidFill>
              </a:rPr>
              <a:t>(сколько обращений приходит к сервису)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Количество ошибок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i="1" lang="ru" sz="1400">
                <a:solidFill>
                  <a:schemeClr val="dk1"/>
                </a:solidFill>
              </a:rPr>
              <a:t>(сколько сбоев или неправильных ответов происходит)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Время ответа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i="1" lang="ru" sz="1400">
                <a:solidFill>
                  <a:schemeClr val="dk1"/>
                </a:solidFill>
              </a:rPr>
              <a:t>(как быстро сервис отвечает пользователю)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Состояние базы данных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i="1" lang="ru" sz="1400">
                <a:solidFill>
                  <a:schemeClr val="dk1"/>
                </a:solidFill>
              </a:rPr>
              <a:t>(работает ли база и нет ли перегрузки)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Хороший дашборд отвечает на вопрос:</a:t>
            </a:r>
            <a:br>
              <a:rPr b="1" lang="ru" sz="1400">
                <a:solidFill>
                  <a:schemeClr val="dk1"/>
                </a:solidFill>
              </a:rPr>
            </a:br>
            <a:r>
              <a:rPr lang="ru" sz="1400">
                <a:solidFill>
                  <a:schemeClr val="dk1"/>
                </a:solidFill>
              </a:rPr>
              <a:t>всё ли сейчас нормально с системой?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4"/>
          <p:cNvSpPr txBox="1"/>
          <p:nvPr>
            <p:ph type="title"/>
          </p:nvPr>
        </p:nvSpPr>
        <p:spPr>
          <a:xfrm>
            <a:off x="311700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8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rPr>
              <a:t>Почему графиков недостаточно?</a:t>
            </a:r>
            <a:endParaRPr b="1" sz="2480">
              <a:solidFill>
                <a:srgbClr val="4E3F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7" name="Google Shape;727;p74"/>
          <p:cNvGrpSpPr/>
          <p:nvPr/>
        </p:nvGrpSpPr>
        <p:grpSpPr>
          <a:xfrm>
            <a:off x="381000" y="1333500"/>
            <a:ext cx="8382150" cy="2130552"/>
            <a:chOff x="381000" y="1333500"/>
            <a:chExt cx="8382150" cy="2130552"/>
          </a:xfrm>
        </p:grpSpPr>
        <p:sp>
          <p:nvSpPr>
            <p:cNvPr id="728" name="Google Shape;728;p74"/>
            <p:cNvSpPr/>
            <p:nvPr/>
          </p:nvSpPr>
          <p:spPr>
            <a:xfrm>
              <a:off x="381000" y="13335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74"/>
            <p:cNvSpPr txBox="1"/>
            <p:nvPr/>
          </p:nvSpPr>
          <p:spPr>
            <a:xfrm>
              <a:off x="571500" y="136855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visibility_off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0" name="Google Shape;730;p74"/>
            <p:cNvSpPr txBox="1"/>
            <p:nvPr/>
          </p:nvSpPr>
          <p:spPr>
            <a:xfrm>
              <a:off x="1047750" y="1333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Администратор не смотрит на экран постоянно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4"/>
            <p:cNvSpPr/>
            <p:nvPr/>
          </p:nvSpPr>
          <p:spPr>
            <a:xfrm>
              <a:off x="4667250" y="13335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74"/>
            <p:cNvSpPr txBox="1"/>
            <p:nvPr/>
          </p:nvSpPr>
          <p:spPr>
            <a:xfrm>
              <a:off x="4857750" y="136855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nights_stay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3" name="Google Shape;733;p74"/>
            <p:cNvSpPr txBox="1"/>
            <p:nvPr/>
          </p:nvSpPr>
          <p:spPr>
            <a:xfrm>
              <a:off x="5334000" y="1333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Авария может начаться ночью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4"/>
            <p:cNvSpPr/>
            <p:nvPr/>
          </p:nvSpPr>
          <p:spPr>
            <a:xfrm>
              <a:off x="381000" y="24765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74"/>
            <p:cNvSpPr txBox="1"/>
            <p:nvPr/>
          </p:nvSpPr>
          <p:spPr>
            <a:xfrm>
              <a:off x="571500" y="251155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notification_important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6" name="Google Shape;736;p74"/>
            <p:cNvSpPr txBox="1"/>
            <p:nvPr/>
          </p:nvSpPr>
          <p:spPr>
            <a:xfrm>
              <a:off x="1047750" y="2476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Проблему нужно заметить сразу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4"/>
            <p:cNvSpPr/>
            <p:nvPr/>
          </p:nvSpPr>
          <p:spPr>
            <a:xfrm>
              <a:off x="4667250" y="24765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74"/>
            <p:cNvSpPr txBox="1"/>
            <p:nvPr/>
          </p:nvSpPr>
          <p:spPr>
            <a:xfrm>
              <a:off x="4857750" y="251155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auto_mode</a:t>
              </a:r>
              <a:endParaRPr sz="240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9" name="Google Shape;739;p74"/>
            <p:cNvSpPr txBox="1"/>
            <p:nvPr/>
          </p:nvSpPr>
          <p:spPr>
            <a:xfrm>
              <a:off x="5334000" y="2476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Важно получить сигнал автоматически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0" name="Google Shape;740;p74"/>
          <p:cNvGrpSpPr/>
          <p:nvPr/>
        </p:nvGrpSpPr>
        <p:grpSpPr>
          <a:xfrm>
            <a:off x="381000" y="3714750"/>
            <a:ext cx="8382000" cy="1047900"/>
            <a:chOff x="381000" y="3714750"/>
            <a:chExt cx="8382000" cy="1047900"/>
          </a:xfrm>
        </p:grpSpPr>
        <p:sp>
          <p:nvSpPr>
            <p:cNvPr id="741" name="Google Shape;741;p74"/>
            <p:cNvSpPr/>
            <p:nvPr/>
          </p:nvSpPr>
          <p:spPr>
            <a:xfrm>
              <a:off x="381000" y="3714750"/>
              <a:ext cx="8382000" cy="1047900"/>
            </a:xfrm>
            <a:prstGeom prst="roundRect">
              <a:avLst>
                <a:gd fmla="val 10909" name="adj"/>
              </a:avLst>
            </a:prstGeom>
            <a:solidFill>
              <a:srgbClr val="FFFBEB"/>
            </a:solidFill>
            <a:ln cap="flat" cmpd="sng" w="1905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74"/>
            <p:cNvSpPr txBox="1"/>
            <p:nvPr/>
          </p:nvSpPr>
          <p:spPr>
            <a:xfrm>
              <a:off x="571500" y="3714750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Вывод:</a:t>
              </a:r>
              <a:endParaRPr b="1" sz="15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ru" sz="15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Системе нужны оповещения, для этого используют </a:t>
              </a:r>
              <a:r>
                <a:rPr b="1" lang="ru" sz="15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Alertmanager</a:t>
              </a:r>
              <a:endParaRPr sz="15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5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4E3F0C"/>
                </a:solidFill>
              </a:rPr>
              <a:t>Оповещение об авариях (Alerting)</a:t>
            </a:r>
            <a:endParaRPr sz="2500">
              <a:solidFill>
                <a:srgbClr val="4E3F0C"/>
              </a:solidFill>
            </a:endParaRPr>
          </a:p>
        </p:txBody>
      </p:sp>
      <p:grpSp>
        <p:nvGrpSpPr>
          <p:cNvPr id="748" name="Google Shape;748;p75"/>
          <p:cNvGrpSpPr/>
          <p:nvPr/>
        </p:nvGrpSpPr>
        <p:grpSpPr>
          <a:xfrm>
            <a:off x="571500" y="1524000"/>
            <a:ext cx="5143500" cy="1905000"/>
            <a:chOff x="0" y="0"/>
            <a:chExt cx="5143500" cy="1905000"/>
          </a:xfrm>
        </p:grpSpPr>
        <p:sp>
          <p:nvSpPr>
            <p:cNvPr id="749" name="Google Shape;749;p75"/>
            <p:cNvSpPr/>
            <p:nvPr/>
          </p:nvSpPr>
          <p:spPr>
            <a:xfrm>
              <a:off x="0" y="0"/>
              <a:ext cx="5143500" cy="19050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75"/>
            <p:cNvSpPr txBox="1"/>
            <p:nvPr/>
          </p:nvSpPr>
          <p:spPr>
            <a:xfrm>
              <a:off x="238125" y="238125"/>
              <a:ext cx="4667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8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Автоматическое уведомление, если метрика вышла за пределы.</a:t>
              </a:r>
              <a:endParaRPr b="0" sz="1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1" name="Google Shape;751;p75"/>
          <p:cNvGrpSpPr/>
          <p:nvPr/>
        </p:nvGrpSpPr>
        <p:grpSpPr>
          <a:xfrm>
            <a:off x="6477000" y="1524000"/>
            <a:ext cx="1905000" cy="1905000"/>
            <a:chOff x="0" y="0"/>
            <a:chExt cx="1905000" cy="1905000"/>
          </a:xfrm>
        </p:grpSpPr>
        <p:sp>
          <p:nvSpPr>
            <p:cNvPr id="752" name="Google Shape;752;p75"/>
            <p:cNvSpPr/>
            <p:nvPr/>
          </p:nvSpPr>
          <p:spPr>
            <a:xfrm>
              <a:off x="0" y="0"/>
              <a:ext cx="1905000" cy="1905000"/>
            </a:xfrm>
            <a:prstGeom prst="ellipse">
              <a:avLst/>
            </a:prstGeom>
            <a:solidFill>
              <a:srgbClr val="FF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75"/>
            <p:cNvSpPr/>
            <p:nvPr/>
          </p:nvSpPr>
          <p:spPr>
            <a:xfrm>
              <a:off x="142875" y="142875"/>
              <a:ext cx="1619100" cy="1619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C5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75"/>
            <p:cNvSpPr txBox="1"/>
            <p:nvPr/>
          </p:nvSpPr>
          <p:spPr>
            <a:xfrm>
              <a:off x="762000" y="285750"/>
              <a:ext cx="381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0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!</a:t>
              </a:r>
              <a:endParaRPr b="0" sz="80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5" name="Google Shape;755;p75"/>
          <p:cNvSpPr/>
          <p:nvPr/>
        </p:nvSpPr>
        <p:spPr>
          <a:xfrm>
            <a:off x="571500" y="4191000"/>
            <a:ext cx="8001000" cy="571500"/>
          </a:xfrm>
          <a:prstGeom prst="roundRect">
            <a:avLst>
              <a:gd fmla="val 20000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75"/>
          <p:cNvSpPr txBox="1"/>
          <p:nvPr/>
        </p:nvSpPr>
        <p:spPr>
          <a:xfrm>
            <a:off x="762000" y="419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4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rPr>
              <a:t>Alerting — критически важная часть мониторинга для обеспечения надежности</a:t>
            </a:r>
            <a:endParaRPr b="0" sz="1400">
              <a:solidFill>
                <a:srgbClr val="4E3F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/>
              <a:t>Alertmanager</a:t>
            </a:r>
            <a:endParaRPr/>
          </a:p>
        </p:txBody>
      </p:sp>
      <p:sp>
        <p:nvSpPr>
          <p:cNvPr id="762" name="Google Shape;762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Это система оповещений.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</a:rPr>
              <a:t>Он помогает: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получать сигналы тревоги;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отправлять уведомления;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не пропускать аварии;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собирать похожие сообщения вместе;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сообщать о проблеме вовремя.</a:t>
            </a:r>
            <a:endParaRPr sz="1400"/>
          </a:p>
        </p:txBody>
      </p:sp>
      <p:pic>
        <p:nvPicPr>
          <p:cNvPr id="763" name="Google Shape;763;p76" title="0*uQgqIa9IWksUQSUD.png"/>
          <p:cNvPicPr preferRelativeResize="0"/>
          <p:nvPr/>
        </p:nvPicPr>
        <p:blipFill rotWithShape="1">
          <a:blip r:embed="rId3">
            <a:alphaModFix/>
          </a:blip>
          <a:srcRect b="0" l="68135" r="0" t="0"/>
          <a:stretch/>
        </p:blipFill>
        <p:spPr>
          <a:xfrm>
            <a:off x="5010275" y="781900"/>
            <a:ext cx="2913750" cy="30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4E3F0C"/>
                </a:solidFill>
              </a:rPr>
              <a:t>Куда приходят алерты?</a:t>
            </a:r>
            <a:endParaRPr sz="2500">
              <a:solidFill>
                <a:srgbClr val="4E3F0C"/>
              </a:solidFill>
            </a:endParaRPr>
          </a:p>
        </p:txBody>
      </p:sp>
      <p:grpSp>
        <p:nvGrpSpPr>
          <p:cNvPr id="768" name="Google Shape;768;p77"/>
          <p:cNvGrpSpPr/>
          <p:nvPr/>
        </p:nvGrpSpPr>
        <p:grpSpPr>
          <a:xfrm>
            <a:off x="381000" y="1524000"/>
            <a:ext cx="1905000" cy="2286000"/>
            <a:chOff x="381000" y="1524000"/>
            <a:chExt cx="1905000" cy="2286000"/>
          </a:xfrm>
        </p:grpSpPr>
        <p:sp>
          <p:nvSpPr>
            <p:cNvPr id="769" name="Google Shape;769;p77"/>
            <p:cNvSpPr/>
            <p:nvPr/>
          </p:nvSpPr>
          <p:spPr>
            <a:xfrm>
              <a:off x="381000" y="1524000"/>
              <a:ext cx="1905000" cy="22860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Telegram messenger logo, high quality vector style icon" id="770" name="Google Shape;770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1905000"/>
              <a:ext cx="1143000" cy="1143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71" name="Google Shape;771;p77"/>
            <p:cNvSpPr txBox="1"/>
            <p:nvPr/>
          </p:nvSpPr>
          <p:spPr>
            <a:xfrm>
              <a:off x="381000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Telegram</a:t>
              </a:r>
              <a:endParaRPr b="1" sz="1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2" name="Google Shape;772;p77"/>
          <p:cNvGrpSpPr/>
          <p:nvPr/>
        </p:nvGrpSpPr>
        <p:grpSpPr>
          <a:xfrm>
            <a:off x="2524125" y="1524000"/>
            <a:ext cx="1905000" cy="2286000"/>
            <a:chOff x="2524125" y="1524000"/>
            <a:chExt cx="1905000" cy="2286000"/>
          </a:xfrm>
        </p:grpSpPr>
        <p:sp>
          <p:nvSpPr>
            <p:cNvPr id="773" name="Google Shape;773;p77"/>
            <p:cNvSpPr/>
            <p:nvPr/>
          </p:nvSpPr>
          <p:spPr>
            <a:xfrm>
              <a:off x="2524125" y="1524000"/>
              <a:ext cx="1905000" cy="22860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Slack app logo, vibrant colors, flat vector icon" id="774" name="Google Shape;774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05125" y="1905000"/>
              <a:ext cx="1143000" cy="1143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75" name="Google Shape;775;p77"/>
            <p:cNvSpPr txBox="1"/>
            <p:nvPr/>
          </p:nvSpPr>
          <p:spPr>
            <a:xfrm>
              <a:off x="2524125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Slack</a:t>
              </a:r>
              <a:endParaRPr b="1" sz="1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p77"/>
          <p:cNvGrpSpPr/>
          <p:nvPr/>
        </p:nvGrpSpPr>
        <p:grpSpPr>
          <a:xfrm>
            <a:off x="4667250" y="1524000"/>
            <a:ext cx="1905000" cy="2286000"/>
            <a:chOff x="4667250" y="1524000"/>
            <a:chExt cx="1905000" cy="2286000"/>
          </a:xfrm>
        </p:grpSpPr>
        <p:sp>
          <p:nvSpPr>
            <p:cNvPr id="777" name="Google Shape;777;p77"/>
            <p:cNvSpPr/>
            <p:nvPr/>
          </p:nvSpPr>
          <p:spPr>
            <a:xfrm>
              <a:off x="4667250" y="1524000"/>
              <a:ext cx="1905000" cy="22860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Email envelope icon, modern flat design, blue tones" id="778" name="Google Shape;778;p7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48250" y="1905000"/>
              <a:ext cx="1143000" cy="1143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79" name="Google Shape;779;p77"/>
            <p:cNvSpPr txBox="1"/>
            <p:nvPr/>
          </p:nvSpPr>
          <p:spPr>
            <a:xfrm>
              <a:off x="4667250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Email</a:t>
              </a:r>
              <a:endParaRPr b="1" sz="1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77"/>
          <p:cNvGrpSpPr/>
          <p:nvPr/>
        </p:nvGrpSpPr>
        <p:grpSpPr>
          <a:xfrm>
            <a:off x="6810375" y="1524000"/>
            <a:ext cx="1905000" cy="2286000"/>
            <a:chOff x="6810375" y="1524000"/>
            <a:chExt cx="1905000" cy="2286000"/>
          </a:xfrm>
        </p:grpSpPr>
        <p:sp>
          <p:nvSpPr>
            <p:cNvPr id="781" name="Google Shape;781;p77"/>
            <p:cNvSpPr/>
            <p:nvPr/>
          </p:nvSpPr>
          <p:spPr>
            <a:xfrm>
              <a:off x="6810375" y="1524000"/>
              <a:ext cx="1905000" cy="22860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agerDuty logo, technical monitoring icon style" id="782" name="Google Shape;782;p7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91375" y="1905000"/>
              <a:ext cx="1143000" cy="1143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83" name="Google Shape;783;p77"/>
            <p:cNvSpPr txBox="1"/>
            <p:nvPr/>
          </p:nvSpPr>
          <p:spPr>
            <a:xfrm>
              <a:off x="6810375" y="3143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PagerDuty</a:t>
              </a:r>
              <a:endParaRPr b="1" sz="1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p77"/>
          <p:cNvGrpSpPr/>
          <p:nvPr/>
        </p:nvGrpSpPr>
        <p:grpSpPr>
          <a:xfrm>
            <a:off x="381000" y="4191000"/>
            <a:ext cx="8382000" cy="571500"/>
            <a:chOff x="381000" y="4191000"/>
            <a:chExt cx="8382000" cy="571500"/>
          </a:xfrm>
        </p:grpSpPr>
        <p:sp>
          <p:nvSpPr>
            <p:cNvPr id="785" name="Google Shape;785;p77"/>
            <p:cNvSpPr/>
            <p:nvPr/>
          </p:nvSpPr>
          <p:spPr>
            <a:xfrm>
              <a:off x="381000" y="4191000"/>
              <a:ext cx="8382000" cy="571500"/>
            </a:xfrm>
            <a:prstGeom prst="roundRect">
              <a:avLst>
                <a:gd fmla="val 20000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77"/>
            <p:cNvSpPr txBox="1"/>
            <p:nvPr/>
          </p:nvSpPr>
          <p:spPr>
            <a:xfrm>
              <a:off x="571500" y="419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Alertmanager поддерживает интеграцию с большинством современных систем оповещения</a:t>
              </a:r>
              <a:endParaRPr sz="14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8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4E3F0C"/>
                </a:solidFill>
              </a:rPr>
              <a:t>Реакция на инцидент</a:t>
            </a:r>
            <a:endParaRPr sz="2500">
              <a:solidFill>
                <a:srgbClr val="4E3F0C"/>
              </a:solidFill>
            </a:endParaRPr>
          </a:p>
        </p:txBody>
      </p:sp>
      <p:pic>
        <p:nvPicPr>
          <p:cNvPr id="791" name="Google Shape;791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6400" y="1259475"/>
            <a:ext cx="1819200" cy="15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5888" y="1285713"/>
            <a:ext cx="1852500" cy="144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3" name="Google Shape;793;p78"/>
          <p:cNvGrpSpPr/>
          <p:nvPr/>
        </p:nvGrpSpPr>
        <p:grpSpPr>
          <a:xfrm>
            <a:off x="571500" y="2685663"/>
            <a:ext cx="1905000" cy="1333500"/>
            <a:chOff x="0" y="0"/>
            <a:chExt cx="1905000" cy="1333500"/>
          </a:xfrm>
        </p:grpSpPr>
        <p:sp>
          <p:nvSpPr>
            <p:cNvPr id="794" name="Google Shape;794;p78"/>
            <p:cNvSpPr/>
            <p:nvPr/>
          </p:nvSpPr>
          <p:spPr>
            <a:xfrm>
              <a:off x="0" y="0"/>
              <a:ext cx="1905000" cy="1333500"/>
            </a:xfrm>
            <a:prstGeom prst="roundRect">
              <a:avLst>
                <a:gd fmla="val 11428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78"/>
            <p:cNvSpPr txBox="1"/>
            <p:nvPr/>
          </p:nvSpPr>
          <p:spPr>
            <a:xfrm>
              <a:off x="0" y="189611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notifications_active</a:t>
              </a:r>
              <a:endParaRPr sz="24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96" name="Google Shape;796;p78"/>
            <p:cNvSpPr txBox="1"/>
            <p:nvPr/>
          </p:nvSpPr>
          <p:spPr>
            <a:xfrm>
              <a:off x="0" y="571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8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Получил алерт</a:t>
              </a:r>
              <a:endParaRPr b="1" sz="148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78"/>
            <p:cNvSpPr txBox="1"/>
            <p:nvPr/>
          </p:nvSpPr>
          <p:spPr>
            <a:xfrm>
              <a:off x="95250" y="857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Alertmanager сигнализирует о сбое</a:t>
              </a:r>
              <a:endParaRPr b="0" sz="12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8" name="Google Shape;798;p78"/>
          <p:cNvGrpSpPr/>
          <p:nvPr/>
        </p:nvGrpSpPr>
        <p:grpSpPr>
          <a:xfrm>
            <a:off x="3619500" y="762000"/>
            <a:ext cx="1905000" cy="1333500"/>
            <a:chOff x="0" y="0"/>
            <a:chExt cx="1905000" cy="1333500"/>
          </a:xfrm>
        </p:grpSpPr>
        <p:sp>
          <p:nvSpPr>
            <p:cNvPr id="799" name="Google Shape;799;p78"/>
            <p:cNvSpPr/>
            <p:nvPr/>
          </p:nvSpPr>
          <p:spPr>
            <a:xfrm>
              <a:off x="0" y="0"/>
              <a:ext cx="1905000" cy="1333500"/>
            </a:xfrm>
            <a:prstGeom prst="roundRect">
              <a:avLst>
                <a:gd fmla="val 11428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78"/>
            <p:cNvSpPr txBox="1"/>
            <p:nvPr/>
          </p:nvSpPr>
          <p:spPr>
            <a:xfrm>
              <a:off x="0" y="189611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4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01" name="Google Shape;801;p78"/>
            <p:cNvSpPr txBox="1"/>
            <p:nvPr/>
          </p:nvSpPr>
          <p:spPr>
            <a:xfrm>
              <a:off x="0" y="571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8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Посмотрел Grafana</a:t>
              </a:r>
              <a:endParaRPr b="1" sz="148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78"/>
            <p:cNvSpPr txBox="1"/>
            <p:nvPr/>
          </p:nvSpPr>
          <p:spPr>
            <a:xfrm>
              <a:off x="95250" y="857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Анализ метрик и поиск причины</a:t>
              </a:r>
              <a:endParaRPr b="0" sz="12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78"/>
          <p:cNvGrpSpPr/>
          <p:nvPr/>
        </p:nvGrpSpPr>
        <p:grpSpPr>
          <a:xfrm>
            <a:off x="6705500" y="2752750"/>
            <a:ext cx="1905000" cy="1362275"/>
            <a:chOff x="0" y="-124025"/>
            <a:chExt cx="1905000" cy="1362275"/>
          </a:xfrm>
        </p:grpSpPr>
        <p:sp>
          <p:nvSpPr>
            <p:cNvPr id="804" name="Google Shape;804;p78"/>
            <p:cNvSpPr/>
            <p:nvPr/>
          </p:nvSpPr>
          <p:spPr>
            <a:xfrm>
              <a:off x="0" y="-124025"/>
              <a:ext cx="1905000" cy="1333500"/>
            </a:xfrm>
            <a:prstGeom prst="roundRect">
              <a:avLst>
                <a:gd fmla="val 11428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78"/>
            <p:cNvSpPr txBox="1"/>
            <p:nvPr/>
          </p:nvSpPr>
          <p:spPr>
            <a:xfrm>
              <a:off x="0" y="189611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80">
                  <a:solidFill>
                    <a:srgbClr val="4E3F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</a:t>
              </a:r>
              <a:endParaRPr sz="2480">
                <a:solidFill>
                  <a:srgbClr val="4E3F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06" name="Google Shape;806;p78"/>
            <p:cNvSpPr txBox="1"/>
            <p:nvPr/>
          </p:nvSpPr>
          <p:spPr>
            <a:xfrm>
              <a:off x="0" y="571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8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Исправил</a:t>
              </a:r>
              <a:endParaRPr b="1" sz="148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78"/>
            <p:cNvSpPr txBox="1"/>
            <p:nvPr/>
          </p:nvSpPr>
          <p:spPr>
            <a:xfrm>
              <a:off x="95250" y="857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2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Автоматизация через Ansible</a:t>
              </a:r>
              <a:endParaRPr b="0" sz="12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9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rPr>
              <a:t>Короткие выводы</a:t>
            </a:r>
            <a:endParaRPr b="1" sz="3200">
              <a:solidFill>
                <a:srgbClr val="4E3F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3" name="Google Shape;813;p79"/>
          <p:cNvGrpSpPr/>
          <p:nvPr/>
        </p:nvGrpSpPr>
        <p:grpSpPr>
          <a:xfrm>
            <a:off x="381000" y="1143000"/>
            <a:ext cx="8382150" cy="2047875"/>
            <a:chOff x="381000" y="1143000"/>
            <a:chExt cx="8382150" cy="2047875"/>
          </a:xfrm>
        </p:grpSpPr>
        <p:sp>
          <p:nvSpPr>
            <p:cNvPr id="814" name="Google Shape;814;p79"/>
            <p:cNvSpPr/>
            <p:nvPr/>
          </p:nvSpPr>
          <p:spPr>
            <a:xfrm>
              <a:off x="381000" y="11430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79"/>
            <p:cNvSpPr txBox="1"/>
            <p:nvPr/>
          </p:nvSpPr>
          <p:spPr>
            <a:xfrm>
              <a:off x="476250" y="114300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Серверы и БД нужно не только настраивать, но и сопровождать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79"/>
            <p:cNvSpPr/>
            <p:nvPr/>
          </p:nvSpPr>
          <p:spPr>
            <a:xfrm>
              <a:off x="4667250" y="11430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79"/>
            <p:cNvSpPr txBox="1"/>
            <p:nvPr/>
          </p:nvSpPr>
          <p:spPr>
            <a:xfrm>
              <a:off x="4762500" y="1143000"/>
              <a:ext cx="390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Ansible</a:t>
              </a: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 автоматизирует развёртывание и настройку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79"/>
            <p:cNvSpPr/>
            <p:nvPr/>
          </p:nvSpPr>
          <p:spPr>
            <a:xfrm>
              <a:off x="381000" y="2238375"/>
              <a:ext cx="26670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79"/>
            <p:cNvSpPr txBox="1"/>
            <p:nvPr/>
          </p:nvSpPr>
          <p:spPr>
            <a:xfrm>
              <a:off x="476250" y="2238375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Prometheus</a:t>
              </a: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 собирает метрики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79"/>
            <p:cNvSpPr/>
            <p:nvPr/>
          </p:nvSpPr>
          <p:spPr>
            <a:xfrm>
              <a:off x="3238500" y="2238375"/>
              <a:ext cx="26670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79"/>
            <p:cNvSpPr txBox="1"/>
            <p:nvPr/>
          </p:nvSpPr>
          <p:spPr>
            <a:xfrm>
              <a:off x="3333750" y="2238375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Grafana</a:t>
              </a: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 показывает состояние системы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79"/>
            <p:cNvSpPr/>
            <p:nvPr/>
          </p:nvSpPr>
          <p:spPr>
            <a:xfrm>
              <a:off x="6096000" y="2238375"/>
              <a:ext cx="26670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79"/>
            <p:cNvSpPr txBox="1"/>
            <p:nvPr/>
          </p:nvSpPr>
          <p:spPr>
            <a:xfrm>
              <a:off x="6191250" y="2238375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Alertmanager</a:t>
              </a:r>
              <a:r>
                <a:rPr lang="ru" sz="13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 предупреждает об авариях</a:t>
              </a:r>
              <a:endParaRPr sz="13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4" name="Google Shape;824;p79"/>
          <p:cNvGrpSpPr/>
          <p:nvPr/>
        </p:nvGrpSpPr>
        <p:grpSpPr>
          <a:xfrm>
            <a:off x="381000" y="3571875"/>
            <a:ext cx="8382000" cy="1143000"/>
            <a:chOff x="381000" y="3571875"/>
            <a:chExt cx="8382000" cy="1143000"/>
          </a:xfrm>
        </p:grpSpPr>
        <p:sp>
          <p:nvSpPr>
            <p:cNvPr id="825" name="Google Shape;825;p79"/>
            <p:cNvSpPr/>
            <p:nvPr/>
          </p:nvSpPr>
          <p:spPr>
            <a:xfrm>
              <a:off x="381000" y="3571875"/>
              <a:ext cx="8382000" cy="1143000"/>
            </a:xfrm>
            <a:prstGeom prst="roundRect">
              <a:avLst>
                <a:gd fmla="val 13333" name="adj"/>
              </a:avLst>
            </a:prstGeom>
            <a:solidFill>
              <a:srgbClr val="FFFBEB"/>
            </a:solidFill>
            <a:ln cap="flat" cmpd="sng" w="1905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79"/>
            <p:cNvSpPr txBox="1"/>
            <p:nvPr/>
          </p:nvSpPr>
          <p:spPr>
            <a:xfrm>
              <a:off x="571500" y="3571875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Главная мысль:</a:t>
              </a:r>
              <a:endParaRPr b="1" sz="16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800">
                  <a:solidFill>
                    <a:srgbClr val="4E3F0C"/>
                  </a:solidFill>
                  <a:latin typeface="Arial"/>
                  <a:ea typeface="Arial"/>
                  <a:cs typeface="Arial"/>
                  <a:sym typeface="Arial"/>
                </a:rPr>
                <a:t>современное администрирование = настройка + наблюдение + реакция</a:t>
              </a:r>
              <a:endParaRPr b="0" sz="1800">
                <a:solidFill>
                  <a:srgbClr val="4E3F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4E3F0C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